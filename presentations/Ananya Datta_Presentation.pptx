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61" r:id="rId9"/>
    <p:sldId id="281" r:id="rId10"/>
    <p:sldId id="282" r:id="rId11"/>
    <p:sldId id="262" r:id="rId12"/>
    <p:sldId id="275" r:id="rId13"/>
    <p:sldId id="277" r:id="rId14"/>
    <p:sldId id="274" r:id="rId15"/>
    <p:sldId id="278" r:id="rId16"/>
    <p:sldId id="276" r:id="rId17"/>
    <p:sldId id="264" r:id="rId18"/>
    <p:sldId id="280" r:id="rId19"/>
    <p:sldId id="279" r:id="rId20"/>
    <p:sldId id="268" r:id="rId21"/>
    <p:sldId id="269" r:id="rId22"/>
  </p:sldIdLst>
  <p:sldSz cx="9753600" cy="7315200"/>
  <p:notesSz cx="6858000" cy="9144000"/>
  <p:embeddedFontLst>
    <p:embeddedFont>
      <p:font typeface="ITC Franklin Gothic LT" panose="020B0604020202020204" charset="0"/>
      <p:regular r:id="rId23"/>
    </p:embeddedFont>
    <p:embeddedFont>
      <p:font typeface="Times New Roman Bold" panose="02020803070505020304" pitchFamily="18" charset="0"/>
      <p:regular r:id="rId24"/>
      <p:bold r:id="rId25"/>
    </p:embeddedFont>
    <p:embeddedFont>
      <p:font typeface="TT Rounds Condensed" panose="020B0604020202020204" charset="0"/>
      <p:regular r:id="rId26"/>
    </p:embeddedFont>
    <p:embeddedFont>
      <p:font typeface="TT Rounds Condensed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5B363-9EF1-3442-3B56-71284F4D0513}" v="16" dt="2025-05-16T18:36:57.895"/>
    <p1510:client id="{BA256F45-2D4C-A189-6181-268977C001BB}" v="1189" dt="2025-05-16T12:10:3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47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43D664-BAB6-48FE-99E6-185CB851958C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EDE7DB2-F28A-4AE5-B435-2E340529B8D5}">
      <dgm:prSet phldrT="[Text]"/>
      <dgm:spPr/>
      <dgm:t>
        <a:bodyPr/>
        <a:lstStyle/>
        <a:p>
          <a:r>
            <a:rPr lang="en-US" b="1" dirty="0"/>
            <a:t>Parent Company</a:t>
          </a:r>
          <a:r>
            <a:rPr lang="en-US" dirty="0"/>
            <a:t>: Fairfax Financial Holdings, founded in 1985 by Prem Watsa</a:t>
          </a:r>
        </a:p>
      </dgm:t>
    </dgm:pt>
    <dgm:pt modelId="{9B8C2647-FE28-45CB-96FF-0DF32E31C069}" type="parTrans" cxnId="{9C94EFCA-8DC4-46DA-B370-2D3C0B702CBB}">
      <dgm:prSet/>
      <dgm:spPr/>
      <dgm:t>
        <a:bodyPr/>
        <a:lstStyle/>
        <a:p>
          <a:endParaRPr lang="en-US"/>
        </a:p>
      </dgm:t>
    </dgm:pt>
    <dgm:pt modelId="{E1DE5E8A-92D2-41E6-A3B6-5F0562DEACC9}" type="sibTrans" cxnId="{9C94EFCA-8DC4-46DA-B370-2D3C0B702CBB}">
      <dgm:prSet/>
      <dgm:spPr/>
      <dgm:t>
        <a:bodyPr/>
        <a:lstStyle/>
        <a:p>
          <a:endParaRPr lang="en-US"/>
        </a:p>
      </dgm:t>
    </dgm:pt>
    <dgm:pt modelId="{822F68CE-ED26-4820-99FE-6BABEAE90610}">
      <dgm:prSet phldrT="[Text]"/>
      <dgm:spPr/>
      <dgm:t>
        <a:bodyPr/>
        <a:lstStyle/>
        <a:p>
          <a:r>
            <a:rPr lang="en-US" b="1" dirty="0"/>
            <a:t>Presence</a:t>
          </a:r>
          <a:r>
            <a:rPr lang="en-US" dirty="0"/>
            <a:t>: Operates in multiple Asian countries including Malaysia, Sri Lanka, Indonesia &amp; Thailand</a:t>
          </a:r>
        </a:p>
      </dgm:t>
    </dgm:pt>
    <dgm:pt modelId="{14CA7BC6-E0F6-416C-9776-C962C6016219}" type="parTrans" cxnId="{832E1A96-66A2-47CF-B399-17FABD1536D2}">
      <dgm:prSet/>
      <dgm:spPr/>
      <dgm:t>
        <a:bodyPr/>
        <a:lstStyle/>
        <a:p>
          <a:endParaRPr lang="en-US"/>
        </a:p>
      </dgm:t>
    </dgm:pt>
    <dgm:pt modelId="{5379FE0D-D2FD-41E6-A3E5-0D2855859ED7}" type="sibTrans" cxnId="{832E1A96-66A2-47CF-B399-17FABD1536D2}">
      <dgm:prSet/>
      <dgm:spPr/>
      <dgm:t>
        <a:bodyPr/>
        <a:lstStyle/>
        <a:p>
          <a:endParaRPr lang="en-US"/>
        </a:p>
      </dgm:t>
    </dgm:pt>
    <dgm:pt modelId="{0CA0DD1B-97E7-4368-90CB-7E3FFACB4E40}">
      <dgm:prSet phldrT="[Text]"/>
      <dgm:spPr/>
      <dgm:t>
        <a:bodyPr/>
        <a:lstStyle/>
        <a:p>
          <a:r>
            <a:rPr lang="en-US" b="1" dirty="0"/>
            <a:t>Business focus</a:t>
          </a:r>
          <a:r>
            <a:rPr lang="en-US" dirty="0"/>
            <a:t>: Offers property, health, and motor insurance products with a strong focus on data and innovation</a:t>
          </a:r>
        </a:p>
      </dgm:t>
    </dgm:pt>
    <dgm:pt modelId="{85AADE49-1860-4C25-B31A-9AFFC6B83C8A}" type="parTrans" cxnId="{928B1ECE-35DA-4F8C-9B65-9F5DC53CBDAE}">
      <dgm:prSet/>
      <dgm:spPr/>
      <dgm:t>
        <a:bodyPr/>
        <a:lstStyle/>
        <a:p>
          <a:endParaRPr lang="en-US"/>
        </a:p>
      </dgm:t>
    </dgm:pt>
    <dgm:pt modelId="{948BC2F8-459E-4E99-ACE9-E24AB68D309B}" type="sibTrans" cxnId="{928B1ECE-35DA-4F8C-9B65-9F5DC53CBDAE}">
      <dgm:prSet/>
      <dgm:spPr/>
      <dgm:t>
        <a:bodyPr/>
        <a:lstStyle/>
        <a:p>
          <a:endParaRPr lang="en-US"/>
        </a:p>
      </dgm:t>
    </dgm:pt>
    <dgm:pt modelId="{8AB89D7D-1E42-4EF8-9DE2-5CB75E1FF7AB}">
      <dgm:prSet phldrT="[Text]"/>
      <dgm:spPr/>
      <dgm:t>
        <a:bodyPr/>
        <a:lstStyle/>
        <a:p>
          <a:r>
            <a:rPr lang="en-US" b="1" dirty="0"/>
            <a:t>Mission</a:t>
          </a:r>
          <a:r>
            <a:rPr lang="en-US" dirty="0"/>
            <a:t>: To create an intelligent ecosystem for insurance operations using data, business insights and technology</a:t>
          </a:r>
        </a:p>
      </dgm:t>
    </dgm:pt>
    <dgm:pt modelId="{76210909-2FBB-4918-8ED3-DF7E2ED3400D}" type="parTrans" cxnId="{4BD87015-7B33-4BBD-886B-640E08338F61}">
      <dgm:prSet/>
      <dgm:spPr/>
      <dgm:t>
        <a:bodyPr/>
        <a:lstStyle/>
        <a:p>
          <a:endParaRPr lang="en-US"/>
        </a:p>
      </dgm:t>
    </dgm:pt>
    <dgm:pt modelId="{298A7EFE-2CD7-4A3C-BB0C-DDA63CFD9641}" type="sibTrans" cxnId="{4BD87015-7B33-4BBD-886B-640E08338F61}">
      <dgm:prSet/>
      <dgm:spPr/>
      <dgm:t>
        <a:bodyPr/>
        <a:lstStyle/>
        <a:p>
          <a:endParaRPr lang="en-US"/>
        </a:p>
      </dgm:t>
    </dgm:pt>
    <dgm:pt modelId="{6FCEBEA2-2EF3-4B66-ADAF-4514540A2D77}">
      <dgm:prSet phldrT="[Text]"/>
      <dgm:spPr/>
      <dgm:t>
        <a:bodyPr/>
        <a:lstStyle/>
        <a:p>
          <a:r>
            <a:rPr lang="en-US" b="1" dirty="0"/>
            <a:t>Core Values</a:t>
          </a:r>
          <a:r>
            <a:rPr lang="en-US" dirty="0"/>
            <a:t>: Operates on principles of fair acquisition, customer-centric solutions and ethical conduct</a:t>
          </a:r>
        </a:p>
      </dgm:t>
    </dgm:pt>
    <dgm:pt modelId="{02464A3F-C839-4F06-B8DB-85D6D64A1767}" type="parTrans" cxnId="{22B80E77-61D9-4C8D-9C1E-F52FA86FE682}">
      <dgm:prSet/>
      <dgm:spPr/>
      <dgm:t>
        <a:bodyPr/>
        <a:lstStyle/>
        <a:p>
          <a:endParaRPr lang="en-US"/>
        </a:p>
      </dgm:t>
    </dgm:pt>
    <dgm:pt modelId="{8D7CB474-1579-4F78-97DA-C1EF0BA3AD43}" type="sibTrans" cxnId="{22B80E77-61D9-4C8D-9C1E-F52FA86FE682}">
      <dgm:prSet/>
      <dgm:spPr/>
      <dgm:t>
        <a:bodyPr/>
        <a:lstStyle/>
        <a:p>
          <a:endParaRPr lang="en-US"/>
        </a:p>
      </dgm:t>
    </dgm:pt>
    <dgm:pt modelId="{9F0DF684-B10B-4E09-808C-0A2A81A3995F}" type="pres">
      <dgm:prSet presAssocID="{5043D664-BAB6-48FE-99E6-185CB851958C}" presName="diagram" presStyleCnt="0">
        <dgm:presLayoutVars>
          <dgm:dir/>
          <dgm:resizeHandles val="exact"/>
        </dgm:presLayoutVars>
      </dgm:prSet>
      <dgm:spPr/>
    </dgm:pt>
    <dgm:pt modelId="{22574C24-7636-424F-AB02-7B02BA996138}" type="pres">
      <dgm:prSet presAssocID="{9EDE7DB2-F28A-4AE5-B435-2E340529B8D5}" presName="node" presStyleLbl="node1" presStyleIdx="0" presStyleCnt="5">
        <dgm:presLayoutVars>
          <dgm:bulletEnabled val="1"/>
        </dgm:presLayoutVars>
      </dgm:prSet>
      <dgm:spPr/>
    </dgm:pt>
    <dgm:pt modelId="{ED561C9F-BF02-40CA-8501-56BFB3754524}" type="pres">
      <dgm:prSet presAssocID="{E1DE5E8A-92D2-41E6-A3B6-5F0562DEACC9}" presName="sibTrans" presStyleCnt="0"/>
      <dgm:spPr/>
    </dgm:pt>
    <dgm:pt modelId="{4C6DF8AF-E3AE-4610-80FC-57C3E11FC9FD}" type="pres">
      <dgm:prSet presAssocID="{822F68CE-ED26-4820-99FE-6BABEAE90610}" presName="node" presStyleLbl="node1" presStyleIdx="1" presStyleCnt="5">
        <dgm:presLayoutVars>
          <dgm:bulletEnabled val="1"/>
        </dgm:presLayoutVars>
      </dgm:prSet>
      <dgm:spPr/>
    </dgm:pt>
    <dgm:pt modelId="{6D120644-A0D1-4187-979C-EDBAE4250D18}" type="pres">
      <dgm:prSet presAssocID="{5379FE0D-D2FD-41E6-A3E5-0D2855859ED7}" presName="sibTrans" presStyleCnt="0"/>
      <dgm:spPr/>
    </dgm:pt>
    <dgm:pt modelId="{1515D8CC-C423-41FF-B617-994D1FDC901A}" type="pres">
      <dgm:prSet presAssocID="{0CA0DD1B-97E7-4368-90CB-7E3FFACB4E40}" presName="node" presStyleLbl="node1" presStyleIdx="2" presStyleCnt="5">
        <dgm:presLayoutVars>
          <dgm:bulletEnabled val="1"/>
        </dgm:presLayoutVars>
      </dgm:prSet>
      <dgm:spPr/>
    </dgm:pt>
    <dgm:pt modelId="{38C96BBC-0C68-4752-871B-BE89DBDF9960}" type="pres">
      <dgm:prSet presAssocID="{948BC2F8-459E-4E99-ACE9-E24AB68D309B}" presName="sibTrans" presStyleCnt="0"/>
      <dgm:spPr/>
    </dgm:pt>
    <dgm:pt modelId="{36516F02-19FB-46BE-80D2-054C0B74DFE7}" type="pres">
      <dgm:prSet presAssocID="{8AB89D7D-1E42-4EF8-9DE2-5CB75E1FF7AB}" presName="node" presStyleLbl="node1" presStyleIdx="3" presStyleCnt="5">
        <dgm:presLayoutVars>
          <dgm:bulletEnabled val="1"/>
        </dgm:presLayoutVars>
      </dgm:prSet>
      <dgm:spPr/>
    </dgm:pt>
    <dgm:pt modelId="{A086E102-C05E-4E89-A5AD-A11E42B865C7}" type="pres">
      <dgm:prSet presAssocID="{298A7EFE-2CD7-4A3C-BB0C-DDA63CFD9641}" presName="sibTrans" presStyleCnt="0"/>
      <dgm:spPr/>
    </dgm:pt>
    <dgm:pt modelId="{97B51E9D-A399-4840-B3E3-AF224D30B5F7}" type="pres">
      <dgm:prSet presAssocID="{6FCEBEA2-2EF3-4B66-ADAF-4514540A2D77}" presName="node" presStyleLbl="node1" presStyleIdx="4" presStyleCnt="5">
        <dgm:presLayoutVars>
          <dgm:bulletEnabled val="1"/>
        </dgm:presLayoutVars>
      </dgm:prSet>
      <dgm:spPr/>
    </dgm:pt>
  </dgm:ptLst>
  <dgm:cxnLst>
    <dgm:cxn modelId="{4BD87015-7B33-4BBD-886B-640E08338F61}" srcId="{5043D664-BAB6-48FE-99E6-185CB851958C}" destId="{8AB89D7D-1E42-4EF8-9DE2-5CB75E1FF7AB}" srcOrd="3" destOrd="0" parTransId="{76210909-2FBB-4918-8ED3-DF7E2ED3400D}" sibTransId="{298A7EFE-2CD7-4A3C-BB0C-DDA63CFD9641}"/>
    <dgm:cxn modelId="{5B01D05F-032F-42AA-AC0E-6F5D3BC2A66B}" type="presOf" srcId="{0CA0DD1B-97E7-4368-90CB-7E3FFACB4E40}" destId="{1515D8CC-C423-41FF-B617-994D1FDC901A}" srcOrd="0" destOrd="0" presId="urn:microsoft.com/office/officeart/2005/8/layout/default"/>
    <dgm:cxn modelId="{3C9AA055-A6DA-427B-908F-767F7F556B9E}" type="presOf" srcId="{6FCEBEA2-2EF3-4B66-ADAF-4514540A2D77}" destId="{97B51E9D-A399-4840-B3E3-AF224D30B5F7}" srcOrd="0" destOrd="0" presId="urn:microsoft.com/office/officeart/2005/8/layout/default"/>
    <dgm:cxn modelId="{22B80E77-61D9-4C8D-9C1E-F52FA86FE682}" srcId="{5043D664-BAB6-48FE-99E6-185CB851958C}" destId="{6FCEBEA2-2EF3-4B66-ADAF-4514540A2D77}" srcOrd="4" destOrd="0" parTransId="{02464A3F-C839-4F06-B8DB-85D6D64A1767}" sibTransId="{8D7CB474-1579-4F78-97DA-C1EF0BA3AD43}"/>
    <dgm:cxn modelId="{832E1A96-66A2-47CF-B399-17FABD1536D2}" srcId="{5043D664-BAB6-48FE-99E6-185CB851958C}" destId="{822F68CE-ED26-4820-99FE-6BABEAE90610}" srcOrd="1" destOrd="0" parTransId="{14CA7BC6-E0F6-416C-9776-C962C6016219}" sibTransId="{5379FE0D-D2FD-41E6-A3E5-0D2855859ED7}"/>
    <dgm:cxn modelId="{152E4AB9-8204-441D-8358-ACD23AC1A703}" type="presOf" srcId="{822F68CE-ED26-4820-99FE-6BABEAE90610}" destId="{4C6DF8AF-E3AE-4610-80FC-57C3E11FC9FD}" srcOrd="0" destOrd="0" presId="urn:microsoft.com/office/officeart/2005/8/layout/default"/>
    <dgm:cxn modelId="{9C94EFCA-8DC4-46DA-B370-2D3C0B702CBB}" srcId="{5043D664-BAB6-48FE-99E6-185CB851958C}" destId="{9EDE7DB2-F28A-4AE5-B435-2E340529B8D5}" srcOrd="0" destOrd="0" parTransId="{9B8C2647-FE28-45CB-96FF-0DF32E31C069}" sibTransId="{E1DE5E8A-92D2-41E6-A3B6-5F0562DEACC9}"/>
    <dgm:cxn modelId="{928B1ECE-35DA-4F8C-9B65-9F5DC53CBDAE}" srcId="{5043D664-BAB6-48FE-99E6-185CB851958C}" destId="{0CA0DD1B-97E7-4368-90CB-7E3FFACB4E40}" srcOrd="2" destOrd="0" parTransId="{85AADE49-1860-4C25-B31A-9AFFC6B83C8A}" sibTransId="{948BC2F8-459E-4E99-ACE9-E24AB68D309B}"/>
    <dgm:cxn modelId="{2CD9A1E9-1EE7-4DC8-8C58-26E0A66AD46F}" type="presOf" srcId="{8AB89D7D-1E42-4EF8-9DE2-5CB75E1FF7AB}" destId="{36516F02-19FB-46BE-80D2-054C0B74DFE7}" srcOrd="0" destOrd="0" presId="urn:microsoft.com/office/officeart/2005/8/layout/default"/>
    <dgm:cxn modelId="{8E0E3BF1-38CF-4526-9ED0-3FB090ADE3D4}" type="presOf" srcId="{5043D664-BAB6-48FE-99E6-185CB851958C}" destId="{9F0DF684-B10B-4E09-808C-0A2A81A3995F}" srcOrd="0" destOrd="0" presId="urn:microsoft.com/office/officeart/2005/8/layout/default"/>
    <dgm:cxn modelId="{AF75D1FA-2D03-4C8F-A3A8-ABA9F91DC04E}" type="presOf" srcId="{9EDE7DB2-F28A-4AE5-B435-2E340529B8D5}" destId="{22574C24-7636-424F-AB02-7B02BA996138}" srcOrd="0" destOrd="0" presId="urn:microsoft.com/office/officeart/2005/8/layout/default"/>
    <dgm:cxn modelId="{B81061F3-DF62-49C0-BBD7-F14624F7366E}" type="presParOf" srcId="{9F0DF684-B10B-4E09-808C-0A2A81A3995F}" destId="{22574C24-7636-424F-AB02-7B02BA996138}" srcOrd="0" destOrd="0" presId="urn:microsoft.com/office/officeart/2005/8/layout/default"/>
    <dgm:cxn modelId="{037B60B4-05C2-4959-B4A1-8C7584B5A4AE}" type="presParOf" srcId="{9F0DF684-B10B-4E09-808C-0A2A81A3995F}" destId="{ED561C9F-BF02-40CA-8501-56BFB3754524}" srcOrd="1" destOrd="0" presId="urn:microsoft.com/office/officeart/2005/8/layout/default"/>
    <dgm:cxn modelId="{59D5B4F1-106B-4ECD-86C8-4B3EE6E34235}" type="presParOf" srcId="{9F0DF684-B10B-4E09-808C-0A2A81A3995F}" destId="{4C6DF8AF-E3AE-4610-80FC-57C3E11FC9FD}" srcOrd="2" destOrd="0" presId="urn:microsoft.com/office/officeart/2005/8/layout/default"/>
    <dgm:cxn modelId="{7B275686-7C78-4942-BF9D-BE241416B5C8}" type="presParOf" srcId="{9F0DF684-B10B-4E09-808C-0A2A81A3995F}" destId="{6D120644-A0D1-4187-979C-EDBAE4250D18}" srcOrd="3" destOrd="0" presId="urn:microsoft.com/office/officeart/2005/8/layout/default"/>
    <dgm:cxn modelId="{38BA045C-1F4E-44E3-BFDC-049013D48B76}" type="presParOf" srcId="{9F0DF684-B10B-4E09-808C-0A2A81A3995F}" destId="{1515D8CC-C423-41FF-B617-994D1FDC901A}" srcOrd="4" destOrd="0" presId="urn:microsoft.com/office/officeart/2005/8/layout/default"/>
    <dgm:cxn modelId="{DF98A5BF-CAB5-433A-82A0-446049B40784}" type="presParOf" srcId="{9F0DF684-B10B-4E09-808C-0A2A81A3995F}" destId="{38C96BBC-0C68-4752-871B-BE89DBDF9960}" srcOrd="5" destOrd="0" presId="urn:microsoft.com/office/officeart/2005/8/layout/default"/>
    <dgm:cxn modelId="{1A904BEA-A974-479A-B979-1EF066910031}" type="presParOf" srcId="{9F0DF684-B10B-4E09-808C-0A2A81A3995F}" destId="{36516F02-19FB-46BE-80D2-054C0B74DFE7}" srcOrd="6" destOrd="0" presId="urn:microsoft.com/office/officeart/2005/8/layout/default"/>
    <dgm:cxn modelId="{65AE8F40-7D14-4150-8BC2-C99C23EF6758}" type="presParOf" srcId="{9F0DF684-B10B-4E09-808C-0A2A81A3995F}" destId="{A086E102-C05E-4E89-A5AD-A11E42B865C7}" srcOrd="7" destOrd="0" presId="urn:microsoft.com/office/officeart/2005/8/layout/default"/>
    <dgm:cxn modelId="{9002B443-30CB-4B2F-BF4C-C7F83C35DCAD}" type="presParOf" srcId="{9F0DF684-B10B-4E09-808C-0A2A81A3995F}" destId="{97B51E9D-A399-4840-B3E3-AF224D30B5F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B9C1B8-2F85-4967-B6A8-A1C9664348D0}" type="doc">
      <dgm:prSet loTypeId="urn:microsoft.com/office/officeart/2008/layout/AlternatingHexagons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A5025253-A1E9-4405-820F-FE2289551E83}">
      <dgm:prSet phldrT="[Text]" custT="1"/>
      <dgm:spPr/>
      <dgm:t>
        <a:bodyPr/>
        <a:lstStyle/>
        <a:p>
          <a:r>
            <a:rPr lang="en-US" sz="1400" dirty="0"/>
            <a:t>Thane, India – within Data Analytics Office</a:t>
          </a:r>
        </a:p>
      </dgm:t>
    </dgm:pt>
    <dgm:pt modelId="{D8EC9983-3F28-4899-9587-A76066936C87}" type="parTrans" cxnId="{904495D4-6879-4B09-BA31-C501BBCC9486}">
      <dgm:prSet/>
      <dgm:spPr/>
      <dgm:t>
        <a:bodyPr/>
        <a:lstStyle/>
        <a:p>
          <a:endParaRPr lang="en-US"/>
        </a:p>
      </dgm:t>
    </dgm:pt>
    <dgm:pt modelId="{5EACE906-8645-4B81-8522-B896ECB90608}" type="sibTrans" cxnId="{904495D4-6879-4B09-BA31-C501BBCC9486}">
      <dgm:prSet/>
      <dgm:spPr/>
      <dgm:t>
        <a:bodyPr/>
        <a:lstStyle/>
        <a:p>
          <a:endParaRPr lang="en-US"/>
        </a:p>
      </dgm:t>
    </dgm:pt>
    <dgm:pt modelId="{DDA14AF5-4622-4119-80C8-314FE792DB79}">
      <dgm:prSet phldrT="[Text]" custT="1"/>
      <dgm:spPr/>
      <dgm:t>
        <a:bodyPr/>
        <a:lstStyle/>
        <a:p>
          <a:r>
            <a:rPr lang="en-US" sz="2000" b="1" dirty="0"/>
            <a:t>Location</a:t>
          </a:r>
          <a:endParaRPr lang="en-US" sz="1000" b="1" dirty="0"/>
        </a:p>
      </dgm:t>
    </dgm:pt>
    <dgm:pt modelId="{F9EC0BCB-4ED0-4E9F-9560-CF9D62681F50}" type="parTrans" cxnId="{E4ED9DF0-AD97-473A-9896-20D8FE259E4D}">
      <dgm:prSet/>
      <dgm:spPr/>
      <dgm:t>
        <a:bodyPr/>
        <a:lstStyle/>
        <a:p>
          <a:endParaRPr lang="en-US"/>
        </a:p>
      </dgm:t>
    </dgm:pt>
    <dgm:pt modelId="{D40EF882-6407-4AD8-8126-317C168C079C}" type="sibTrans" cxnId="{E4ED9DF0-AD97-473A-9896-20D8FE259E4D}">
      <dgm:prSet/>
      <dgm:spPr/>
      <dgm:t>
        <a:bodyPr/>
        <a:lstStyle/>
        <a:p>
          <a:endParaRPr lang="en-US"/>
        </a:p>
      </dgm:t>
    </dgm:pt>
    <dgm:pt modelId="{00C48DD8-E275-4D11-A1BD-EE3B0544654D}">
      <dgm:prSet phldrT="[Text]" custT="1"/>
      <dgm:spPr/>
      <dgm:t>
        <a:bodyPr/>
        <a:lstStyle/>
        <a:p>
          <a:r>
            <a:rPr lang="en-US" sz="1200" dirty="0"/>
            <a:t>Gained Practical exposure in data engineering, data analysis and </a:t>
          </a:r>
          <a:r>
            <a:rPr lang="en-US" sz="1400" dirty="0"/>
            <a:t>predictive</a:t>
          </a:r>
          <a:r>
            <a:rPr lang="en-US" sz="1200" dirty="0"/>
            <a:t> modelling techniques</a:t>
          </a:r>
        </a:p>
      </dgm:t>
    </dgm:pt>
    <dgm:pt modelId="{8209283E-05D2-4C4E-9EEF-36C7CC4E9685}" type="parTrans" cxnId="{F691E085-E016-45F8-A0DE-6E920CC17F81}">
      <dgm:prSet/>
      <dgm:spPr/>
      <dgm:t>
        <a:bodyPr/>
        <a:lstStyle/>
        <a:p>
          <a:endParaRPr lang="en-US"/>
        </a:p>
      </dgm:t>
    </dgm:pt>
    <dgm:pt modelId="{14158677-FF62-4555-9E38-BF18A6C34671}" type="sibTrans" cxnId="{F691E085-E016-45F8-A0DE-6E920CC17F81}">
      <dgm:prSet/>
      <dgm:spPr/>
      <dgm:t>
        <a:bodyPr/>
        <a:lstStyle/>
        <a:p>
          <a:endParaRPr lang="en-US"/>
        </a:p>
      </dgm:t>
    </dgm:pt>
    <dgm:pt modelId="{7BCA4661-8535-48EA-970A-286C9567B21F}">
      <dgm:prSet phldrT="[Text]" custT="1"/>
      <dgm:spPr/>
      <dgm:t>
        <a:bodyPr/>
        <a:lstStyle/>
        <a:p>
          <a:r>
            <a:rPr lang="en-US" sz="2000" b="1" dirty="0"/>
            <a:t>Focus Areas</a:t>
          </a:r>
        </a:p>
      </dgm:t>
    </dgm:pt>
    <dgm:pt modelId="{E90CB369-03FF-4C93-8A4F-77E4069AF55B}" type="parTrans" cxnId="{BF8E0401-5C7C-4AFE-BC87-E27385DFF790}">
      <dgm:prSet/>
      <dgm:spPr/>
      <dgm:t>
        <a:bodyPr/>
        <a:lstStyle/>
        <a:p>
          <a:endParaRPr lang="en-US"/>
        </a:p>
      </dgm:t>
    </dgm:pt>
    <dgm:pt modelId="{817EC2D4-AEF8-4F72-9CC8-223DAFDCB705}" type="sibTrans" cxnId="{BF8E0401-5C7C-4AFE-BC87-E27385DFF790}">
      <dgm:prSet/>
      <dgm:spPr/>
      <dgm:t>
        <a:bodyPr/>
        <a:lstStyle/>
        <a:p>
          <a:endParaRPr lang="en-US"/>
        </a:p>
      </dgm:t>
    </dgm:pt>
    <dgm:pt modelId="{E1EB383C-4A04-48CF-8CDD-A34E0EF91ED4}">
      <dgm:prSet phldrT="[Text]" custT="1"/>
      <dgm:spPr/>
      <dgm:t>
        <a:bodyPr/>
        <a:lstStyle/>
        <a:p>
          <a:r>
            <a:rPr lang="en-US" sz="1400" dirty="0"/>
            <a:t>Worked on large-scale insurance datasets, building data-driven solutions</a:t>
          </a:r>
        </a:p>
      </dgm:t>
    </dgm:pt>
    <dgm:pt modelId="{C924B395-D1CD-4568-AEEF-5C2576F9FFE0}" type="parTrans" cxnId="{B016FAB6-F9C6-4CE2-ACD1-2E2FAF352BF5}">
      <dgm:prSet/>
      <dgm:spPr/>
      <dgm:t>
        <a:bodyPr/>
        <a:lstStyle/>
        <a:p>
          <a:endParaRPr lang="en-US"/>
        </a:p>
      </dgm:t>
    </dgm:pt>
    <dgm:pt modelId="{1D2BE84C-31BA-40F7-9F09-D55A4629373D}" type="sibTrans" cxnId="{B016FAB6-F9C6-4CE2-ACD1-2E2FAF352BF5}">
      <dgm:prSet/>
      <dgm:spPr/>
      <dgm:t>
        <a:bodyPr/>
        <a:lstStyle/>
        <a:p>
          <a:endParaRPr lang="en-US"/>
        </a:p>
      </dgm:t>
    </dgm:pt>
    <dgm:pt modelId="{21388692-FDBD-42EC-9AF2-116F1CBBB992}">
      <dgm:prSet phldrT="[Text]" custT="1"/>
      <dgm:spPr/>
      <dgm:t>
        <a:bodyPr/>
        <a:lstStyle/>
        <a:p>
          <a:r>
            <a:rPr lang="en-US" sz="1300" dirty="0"/>
            <a:t>Applied theoretical knowledge of Machine Learning and Data Science in real-world insurance-based use cases.</a:t>
          </a:r>
        </a:p>
      </dgm:t>
    </dgm:pt>
    <dgm:pt modelId="{069272E9-E679-43AF-B437-7A5B222464B6}" type="parTrans" cxnId="{A8F4913B-8ED5-41D5-8FD4-62BC3DA34A9D}">
      <dgm:prSet/>
      <dgm:spPr/>
      <dgm:t>
        <a:bodyPr/>
        <a:lstStyle/>
        <a:p>
          <a:endParaRPr lang="en-US"/>
        </a:p>
      </dgm:t>
    </dgm:pt>
    <dgm:pt modelId="{6031137F-3307-49FB-AB0B-D7D3CE72E123}" type="sibTrans" cxnId="{A8F4913B-8ED5-41D5-8FD4-62BC3DA34A9D}">
      <dgm:prSet/>
      <dgm:spPr/>
      <dgm:t>
        <a:bodyPr/>
        <a:lstStyle/>
        <a:p>
          <a:endParaRPr lang="en-US"/>
        </a:p>
      </dgm:t>
    </dgm:pt>
    <dgm:pt modelId="{322319A2-6C71-44BD-8A0B-C233100A0BDE}">
      <dgm:prSet phldrT="[Text]" custT="1"/>
      <dgm:spPr/>
      <dgm:t>
        <a:bodyPr/>
        <a:lstStyle/>
        <a:p>
          <a:r>
            <a:rPr lang="en-US" sz="2000" b="1" dirty="0"/>
            <a:t>Scope</a:t>
          </a:r>
        </a:p>
      </dgm:t>
    </dgm:pt>
    <dgm:pt modelId="{AF63DA87-DEA0-40BC-BF2B-1BA2C10F6E08}" type="sibTrans" cxnId="{E9077A0D-A3B3-4654-976D-A9E8DE7A8126}">
      <dgm:prSet/>
      <dgm:spPr/>
      <dgm:t>
        <a:bodyPr/>
        <a:lstStyle/>
        <a:p>
          <a:endParaRPr lang="en-US"/>
        </a:p>
      </dgm:t>
    </dgm:pt>
    <dgm:pt modelId="{14D06BEC-B937-40D0-B4FA-501B3A0B3225}" type="parTrans" cxnId="{E9077A0D-A3B3-4654-976D-A9E8DE7A8126}">
      <dgm:prSet/>
      <dgm:spPr/>
      <dgm:t>
        <a:bodyPr/>
        <a:lstStyle/>
        <a:p>
          <a:endParaRPr lang="en-US"/>
        </a:p>
      </dgm:t>
    </dgm:pt>
    <dgm:pt modelId="{FF797217-D19B-479F-A07B-8206E2F87EE9}">
      <dgm:prSet phldrT="[Text]" custT="1"/>
      <dgm:spPr/>
      <dgm:t>
        <a:bodyPr/>
        <a:lstStyle/>
        <a:p>
          <a:r>
            <a:rPr lang="en-US" sz="2000" b="1" dirty="0"/>
            <a:t>Learning Outcomes</a:t>
          </a:r>
        </a:p>
      </dgm:t>
    </dgm:pt>
    <dgm:pt modelId="{6575656D-E68E-4853-8D1F-A8F3D894FE2D}" type="parTrans" cxnId="{29662784-9C67-4CB2-A006-3945D257FEC9}">
      <dgm:prSet/>
      <dgm:spPr/>
      <dgm:t>
        <a:bodyPr/>
        <a:lstStyle/>
        <a:p>
          <a:endParaRPr lang="en-US"/>
        </a:p>
      </dgm:t>
    </dgm:pt>
    <dgm:pt modelId="{E09A113A-3FBF-43EA-AB4E-A7C9AC4B281C}" type="sibTrans" cxnId="{29662784-9C67-4CB2-A006-3945D257FEC9}">
      <dgm:prSet/>
      <dgm:spPr/>
      <dgm:t>
        <a:bodyPr/>
        <a:lstStyle/>
        <a:p>
          <a:endParaRPr lang="en-US"/>
        </a:p>
      </dgm:t>
    </dgm:pt>
    <dgm:pt modelId="{D7C4F595-091B-4FC4-B053-AB7C34C27D2B}" type="pres">
      <dgm:prSet presAssocID="{5DB9C1B8-2F85-4967-B6A8-A1C9664348D0}" presName="Name0" presStyleCnt="0">
        <dgm:presLayoutVars>
          <dgm:chMax/>
          <dgm:chPref/>
          <dgm:dir/>
          <dgm:animLvl val="lvl"/>
        </dgm:presLayoutVars>
      </dgm:prSet>
      <dgm:spPr/>
    </dgm:pt>
    <dgm:pt modelId="{9FE3B3C3-19BF-4DF5-B73A-E2EA0615C10C}" type="pres">
      <dgm:prSet presAssocID="{A5025253-A1E9-4405-820F-FE2289551E83}" presName="composite" presStyleCnt="0"/>
      <dgm:spPr/>
    </dgm:pt>
    <dgm:pt modelId="{4F015D9D-9C65-4B49-A323-D81EC2C0E21C}" type="pres">
      <dgm:prSet presAssocID="{A5025253-A1E9-4405-820F-FE2289551E83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51CD1448-9A80-4B25-B805-8AB2C911235E}" type="pres">
      <dgm:prSet presAssocID="{A5025253-A1E9-4405-820F-FE2289551E83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B3C10133-DD6B-42C0-A724-84F0DE479984}" type="pres">
      <dgm:prSet presAssocID="{A5025253-A1E9-4405-820F-FE2289551E83}" presName="BalanceSpacing" presStyleCnt="0"/>
      <dgm:spPr/>
    </dgm:pt>
    <dgm:pt modelId="{3C50C663-1324-450F-993E-FD5380FEAFF8}" type="pres">
      <dgm:prSet presAssocID="{A5025253-A1E9-4405-820F-FE2289551E83}" presName="BalanceSpacing1" presStyleCnt="0"/>
      <dgm:spPr/>
    </dgm:pt>
    <dgm:pt modelId="{24CD7AA8-FBD3-4662-B390-26DF9FFD4048}" type="pres">
      <dgm:prSet presAssocID="{5EACE906-8645-4B81-8522-B896ECB90608}" presName="Accent1Text" presStyleLbl="node1" presStyleIdx="1" presStyleCnt="8" custScaleX="75508" custScaleY="64730" custLinFactNeighborX="9491" custLinFactNeighborY="6930"/>
      <dgm:spPr/>
    </dgm:pt>
    <dgm:pt modelId="{15E7E2C6-5C00-45BF-8212-815C63A76330}" type="pres">
      <dgm:prSet presAssocID="{5EACE906-8645-4B81-8522-B896ECB90608}" presName="spaceBetweenRectangles" presStyleCnt="0"/>
      <dgm:spPr/>
    </dgm:pt>
    <dgm:pt modelId="{FE621842-13D0-4D90-92CB-775B9BC32DD9}" type="pres">
      <dgm:prSet presAssocID="{00C48DD8-E275-4D11-A1BD-EE3B0544654D}" presName="composite" presStyleCnt="0"/>
      <dgm:spPr/>
    </dgm:pt>
    <dgm:pt modelId="{E90ABBDE-185E-4068-95D8-61033AED9A14}" type="pres">
      <dgm:prSet presAssocID="{00C48DD8-E275-4D11-A1BD-EE3B0544654D}" presName="Parent1" presStyleLbl="node1" presStyleIdx="2" presStyleCnt="8" custScaleX="116659" custScaleY="113288" custLinFactNeighborX="-11609" custLinFactNeighborY="589">
        <dgm:presLayoutVars>
          <dgm:chMax val="1"/>
          <dgm:chPref val="1"/>
          <dgm:bulletEnabled val="1"/>
        </dgm:presLayoutVars>
      </dgm:prSet>
      <dgm:spPr/>
    </dgm:pt>
    <dgm:pt modelId="{0BE7DB9C-348A-4035-A3A9-6C797AB84630}" type="pres">
      <dgm:prSet presAssocID="{00C48DD8-E275-4D11-A1BD-EE3B0544654D}" presName="Childtext1" presStyleLbl="revTx" presStyleIdx="1" presStyleCnt="4" custLinFactNeighborX="-13047" custLinFactNeighborY="-14303">
        <dgm:presLayoutVars>
          <dgm:chMax val="0"/>
          <dgm:chPref val="0"/>
          <dgm:bulletEnabled val="1"/>
        </dgm:presLayoutVars>
      </dgm:prSet>
      <dgm:spPr/>
    </dgm:pt>
    <dgm:pt modelId="{6797D3CE-44FC-4D97-A4B2-DB1D86205103}" type="pres">
      <dgm:prSet presAssocID="{00C48DD8-E275-4D11-A1BD-EE3B0544654D}" presName="BalanceSpacing" presStyleCnt="0"/>
      <dgm:spPr/>
    </dgm:pt>
    <dgm:pt modelId="{632A114C-301B-46FB-BA74-AA8C7664523F}" type="pres">
      <dgm:prSet presAssocID="{00C48DD8-E275-4D11-A1BD-EE3B0544654D}" presName="BalanceSpacing1" presStyleCnt="0"/>
      <dgm:spPr/>
    </dgm:pt>
    <dgm:pt modelId="{E90815B5-03A3-44AB-B862-15A0DAAA9BB2}" type="pres">
      <dgm:prSet presAssocID="{14158677-FF62-4555-9E38-BF18A6C34671}" presName="Accent1Text" presStyleLbl="node1" presStyleIdx="3" presStyleCnt="8" custScaleX="67313" custScaleY="58632" custLinFactNeighborX="-19660" custLinFactNeighborY="-3390"/>
      <dgm:spPr/>
    </dgm:pt>
    <dgm:pt modelId="{3B7CC5B2-7891-4D31-BB2E-C58CD2EB1135}" type="pres">
      <dgm:prSet presAssocID="{14158677-FF62-4555-9E38-BF18A6C34671}" presName="spaceBetweenRectangles" presStyleCnt="0"/>
      <dgm:spPr/>
    </dgm:pt>
    <dgm:pt modelId="{818971F3-B9AE-4BB5-8E35-E7CDE9C5AABB}" type="pres">
      <dgm:prSet presAssocID="{E1EB383C-4A04-48CF-8CDD-A34E0EF91ED4}" presName="composite" presStyleCnt="0"/>
      <dgm:spPr/>
    </dgm:pt>
    <dgm:pt modelId="{57D56299-5FFB-456E-B76E-8C2C023AAD45}" type="pres">
      <dgm:prSet presAssocID="{E1EB383C-4A04-48CF-8CDD-A34E0EF91ED4}" presName="Parent1" presStyleLbl="node1" presStyleIdx="4" presStyleCnt="8" custScaleX="113007" custScaleY="115297" custLinFactNeighborX="3629">
        <dgm:presLayoutVars>
          <dgm:chMax val="1"/>
          <dgm:chPref val="1"/>
          <dgm:bulletEnabled val="1"/>
        </dgm:presLayoutVars>
      </dgm:prSet>
      <dgm:spPr/>
    </dgm:pt>
    <dgm:pt modelId="{FA9A420D-D667-41E4-9919-06A68A3570CC}" type="pres">
      <dgm:prSet presAssocID="{E1EB383C-4A04-48CF-8CDD-A34E0EF91ED4}" presName="Childtext1" presStyleLbl="revTx" presStyleIdx="2" presStyleCnt="4" custLinFactNeighborX="9270">
        <dgm:presLayoutVars>
          <dgm:chMax val="0"/>
          <dgm:chPref val="0"/>
          <dgm:bulletEnabled val="1"/>
        </dgm:presLayoutVars>
      </dgm:prSet>
      <dgm:spPr/>
    </dgm:pt>
    <dgm:pt modelId="{4A25368D-435C-42D2-9226-17B060742CEB}" type="pres">
      <dgm:prSet presAssocID="{E1EB383C-4A04-48CF-8CDD-A34E0EF91ED4}" presName="BalanceSpacing" presStyleCnt="0"/>
      <dgm:spPr/>
    </dgm:pt>
    <dgm:pt modelId="{102F2EEC-6BAA-49FC-A1FB-FB15CDC46899}" type="pres">
      <dgm:prSet presAssocID="{E1EB383C-4A04-48CF-8CDD-A34E0EF91ED4}" presName="BalanceSpacing1" presStyleCnt="0"/>
      <dgm:spPr/>
    </dgm:pt>
    <dgm:pt modelId="{11C9843E-CEF5-495E-87A7-BF3792E1B7A2}" type="pres">
      <dgm:prSet presAssocID="{1D2BE84C-31BA-40F7-9F09-D55A4629373D}" presName="Accent1Text" presStyleLbl="node1" presStyleIdx="5" presStyleCnt="8" custScaleX="66018" custScaleY="68366" custLinFactNeighborX="14237" custLinFactNeighborY="0"/>
      <dgm:spPr/>
    </dgm:pt>
    <dgm:pt modelId="{833DECD9-2E30-42CB-9DC2-8DEF72624121}" type="pres">
      <dgm:prSet presAssocID="{1D2BE84C-31BA-40F7-9F09-D55A4629373D}" presName="spaceBetweenRectangles" presStyleCnt="0"/>
      <dgm:spPr/>
    </dgm:pt>
    <dgm:pt modelId="{FBC02024-5303-4B5F-85BC-B06849142B09}" type="pres">
      <dgm:prSet presAssocID="{21388692-FDBD-42EC-9AF2-116F1CBBB992}" presName="composite" presStyleCnt="0"/>
      <dgm:spPr/>
    </dgm:pt>
    <dgm:pt modelId="{DC3C5D82-D195-4663-8665-F2BA6A1B1FC3}" type="pres">
      <dgm:prSet presAssocID="{21388692-FDBD-42EC-9AF2-116F1CBBB992}" presName="Parent1" presStyleLbl="node1" presStyleIdx="6" presStyleCnt="8" custScaleX="137401" custScaleY="113740" custLinFactNeighborX="-15934">
        <dgm:presLayoutVars>
          <dgm:chMax val="1"/>
          <dgm:chPref val="1"/>
          <dgm:bulletEnabled val="1"/>
        </dgm:presLayoutVars>
      </dgm:prSet>
      <dgm:spPr/>
    </dgm:pt>
    <dgm:pt modelId="{F69C12B9-4F44-4901-B0A9-5C168D353B50}" type="pres">
      <dgm:prSet presAssocID="{21388692-FDBD-42EC-9AF2-116F1CBBB992}" presName="Childtext1" presStyleLbl="revTx" presStyleIdx="3" presStyleCnt="4" custLinFactNeighborX="-31534">
        <dgm:presLayoutVars>
          <dgm:chMax val="0"/>
          <dgm:chPref val="0"/>
          <dgm:bulletEnabled val="1"/>
        </dgm:presLayoutVars>
      </dgm:prSet>
      <dgm:spPr/>
    </dgm:pt>
    <dgm:pt modelId="{E130B26D-2BBF-46AD-8ACA-7E06DDBD7B81}" type="pres">
      <dgm:prSet presAssocID="{21388692-FDBD-42EC-9AF2-116F1CBBB992}" presName="BalanceSpacing" presStyleCnt="0"/>
      <dgm:spPr/>
    </dgm:pt>
    <dgm:pt modelId="{6F3F97B9-6DF4-4F1F-81B1-313EB97D0B12}" type="pres">
      <dgm:prSet presAssocID="{21388692-FDBD-42EC-9AF2-116F1CBBB992}" presName="BalanceSpacing1" presStyleCnt="0"/>
      <dgm:spPr/>
    </dgm:pt>
    <dgm:pt modelId="{71CC327C-A99A-4D2A-8CC3-418CB467E239}" type="pres">
      <dgm:prSet presAssocID="{6031137F-3307-49FB-AB0B-D7D3CE72E123}" presName="Accent1Text" presStyleLbl="node1" presStyleIdx="7" presStyleCnt="8" custScaleX="69076" custScaleY="70661" custLinFactNeighborX="-14715" custLinFactNeighborY="0"/>
      <dgm:spPr/>
    </dgm:pt>
  </dgm:ptLst>
  <dgm:cxnLst>
    <dgm:cxn modelId="{BF8E0401-5C7C-4AFE-BC87-E27385DFF790}" srcId="{00C48DD8-E275-4D11-A1BD-EE3B0544654D}" destId="{7BCA4661-8535-48EA-970A-286C9567B21F}" srcOrd="0" destOrd="0" parTransId="{E90CB369-03FF-4C93-8A4F-77E4069AF55B}" sibTransId="{817EC2D4-AEF8-4F72-9CC8-223DAFDCB705}"/>
    <dgm:cxn modelId="{27060C04-042D-43FD-982E-5390B3129DB6}" type="presOf" srcId="{322319A2-6C71-44BD-8A0B-C233100A0BDE}" destId="{FA9A420D-D667-41E4-9919-06A68A3570CC}" srcOrd="0" destOrd="0" presId="urn:microsoft.com/office/officeart/2008/layout/AlternatingHexagons"/>
    <dgm:cxn modelId="{E9077A0D-A3B3-4654-976D-A9E8DE7A8126}" srcId="{E1EB383C-4A04-48CF-8CDD-A34E0EF91ED4}" destId="{322319A2-6C71-44BD-8A0B-C233100A0BDE}" srcOrd="0" destOrd="0" parTransId="{14D06BEC-B937-40D0-B4FA-501B3A0B3225}" sibTransId="{AF63DA87-DEA0-40BC-BF2B-1BA2C10F6E08}"/>
    <dgm:cxn modelId="{2BB40310-ADE9-42A3-AA11-B7BA05072B3F}" type="presOf" srcId="{5EACE906-8645-4B81-8522-B896ECB90608}" destId="{24CD7AA8-FBD3-4662-B390-26DF9FFD4048}" srcOrd="0" destOrd="0" presId="urn:microsoft.com/office/officeart/2008/layout/AlternatingHexagons"/>
    <dgm:cxn modelId="{50B6DE11-9C62-4471-8F8B-B3F6A1A88F70}" type="presOf" srcId="{A5025253-A1E9-4405-820F-FE2289551E83}" destId="{4F015D9D-9C65-4B49-A323-D81EC2C0E21C}" srcOrd="0" destOrd="0" presId="urn:microsoft.com/office/officeart/2008/layout/AlternatingHexagons"/>
    <dgm:cxn modelId="{85711415-634F-418E-9BD9-A405C18ADBFA}" type="presOf" srcId="{1D2BE84C-31BA-40F7-9F09-D55A4629373D}" destId="{11C9843E-CEF5-495E-87A7-BF3792E1B7A2}" srcOrd="0" destOrd="0" presId="urn:microsoft.com/office/officeart/2008/layout/AlternatingHexagons"/>
    <dgm:cxn modelId="{99175333-7608-45F1-A4A2-BA91F98D369A}" type="presOf" srcId="{00C48DD8-E275-4D11-A1BD-EE3B0544654D}" destId="{E90ABBDE-185E-4068-95D8-61033AED9A14}" srcOrd="0" destOrd="0" presId="urn:microsoft.com/office/officeart/2008/layout/AlternatingHexagons"/>
    <dgm:cxn modelId="{00BB9539-5144-453A-9680-43DE1E94670A}" type="presOf" srcId="{DDA14AF5-4622-4119-80C8-314FE792DB79}" destId="{51CD1448-9A80-4B25-B805-8AB2C911235E}" srcOrd="0" destOrd="0" presId="urn:microsoft.com/office/officeart/2008/layout/AlternatingHexagons"/>
    <dgm:cxn modelId="{A8F4913B-8ED5-41D5-8FD4-62BC3DA34A9D}" srcId="{5DB9C1B8-2F85-4967-B6A8-A1C9664348D0}" destId="{21388692-FDBD-42EC-9AF2-116F1CBBB992}" srcOrd="3" destOrd="0" parTransId="{069272E9-E679-43AF-B437-7A5B222464B6}" sibTransId="{6031137F-3307-49FB-AB0B-D7D3CE72E123}"/>
    <dgm:cxn modelId="{29662784-9C67-4CB2-A006-3945D257FEC9}" srcId="{21388692-FDBD-42EC-9AF2-116F1CBBB992}" destId="{FF797217-D19B-479F-A07B-8206E2F87EE9}" srcOrd="0" destOrd="0" parTransId="{6575656D-E68E-4853-8D1F-A8F3D894FE2D}" sibTransId="{E09A113A-3FBF-43EA-AB4E-A7C9AC4B281C}"/>
    <dgm:cxn modelId="{F691E085-E016-45F8-A0DE-6E920CC17F81}" srcId="{5DB9C1B8-2F85-4967-B6A8-A1C9664348D0}" destId="{00C48DD8-E275-4D11-A1BD-EE3B0544654D}" srcOrd="1" destOrd="0" parTransId="{8209283E-05D2-4C4E-9EEF-36C7CC4E9685}" sibTransId="{14158677-FF62-4555-9E38-BF18A6C34671}"/>
    <dgm:cxn modelId="{7A722B87-0F9B-44BD-A4C7-CA57B675A162}" type="presOf" srcId="{5DB9C1B8-2F85-4967-B6A8-A1C9664348D0}" destId="{D7C4F595-091B-4FC4-B053-AB7C34C27D2B}" srcOrd="0" destOrd="0" presId="urn:microsoft.com/office/officeart/2008/layout/AlternatingHexagons"/>
    <dgm:cxn modelId="{0294AC88-649F-4F62-BEA6-A247EC8CDF15}" type="presOf" srcId="{6031137F-3307-49FB-AB0B-D7D3CE72E123}" destId="{71CC327C-A99A-4D2A-8CC3-418CB467E239}" srcOrd="0" destOrd="0" presId="urn:microsoft.com/office/officeart/2008/layout/AlternatingHexagons"/>
    <dgm:cxn modelId="{8D08369B-F8F4-4684-92D4-2A53D65B3E69}" type="presOf" srcId="{14158677-FF62-4555-9E38-BF18A6C34671}" destId="{E90815B5-03A3-44AB-B862-15A0DAAA9BB2}" srcOrd="0" destOrd="0" presId="urn:microsoft.com/office/officeart/2008/layout/AlternatingHexagons"/>
    <dgm:cxn modelId="{F65674B5-AE49-4091-A58E-D79C05BE668A}" type="presOf" srcId="{7BCA4661-8535-48EA-970A-286C9567B21F}" destId="{0BE7DB9C-348A-4035-A3A9-6C797AB84630}" srcOrd="0" destOrd="0" presId="urn:microsoft.com/office/officeart/2008/layout/AlternatingHexagons"/>
    <dgm:cxn modelId="{B016FAB6-F9C6-4CE2-ACD1-2E2FAF352BF5}" srcId="{5DB9C1B8-2F85-4967-B6A8-A1C9664348D0}" destId="{E1EB383C-4A04-48CF-8CDD-A34E0EF91ED4}" srcOrd="2" destOrd="0" parTransId="{C924B395-D1CD-4568-AEEF-5C2576F9FFE0}" sibTransId="{1D2BE84C-31BA-40F7-9F09-D55A4629373D}"/>
    <dgm:cxn modelId="{12864CC0-14E7-43C8-86A6-AEA2CA4A6E68}" type="presOf" srcId="{FF797217-D19B-479F-A07B-8206E2F87EE9}" destId="{F69C12B9-4F44-4901-B0A9-5C168D353B50}" srcOrd="0" destOrd="0" presId="urn:microsoft.com/office/officeart/2008/layout/AlternatingHexagons"/>
    <dgm:cxn modelId="{F6F786C8-EBC7-4B3D-BD74-204EDCD4E4B5}" type="presOf" srcId="{E1EB383C-4A04-48CF-8CDD-A34E0EF91ED4}" destId="{57D56299-5FFB-456E-B76E-8C2C023AAD45}" srcOrd="0" destOrd="0" presId="urn:microsoft.com/office/officeart/2008/layout/AlternatingHexagons"/>
    <dgm:cxn modelId="{3A2CB7CC-45E9-46B0-A57E-D310DE53CF08}" type="presOf" srcId="{21388692-FDBD-42EC-9AF2-116F1CBBB992}" destId="{DC3C5D82-D195-4663-8665-F2BA6A1B1FC3}" srcOrd="0" destOrd="0" presId="urn:microsoft.com/office/officeart/2008/layout/AlternatingHexagons"/>
    <dgm:cxn modelId="{904495D4-6879-4B09-BA31-C501BBCC9486}" srcId="{5DB9C1B8-2F85-4967-B6A8-A1C9664348D0}" destId="{A5025253-A1E9-4405-820F-FE2289551E83}" srcOrd="0" destOrd="0" parTransId="{D8EC9983-3F28-4899-9587-A76066936C87}" sibTransId="{5EACE906-8645-4B81-8522-B896ECB90608}"/>
    <dgm:cxn modelId="{E4ED9DF0-AD97-473A-9896-20D8FE259E4D}" srcId="{A5025253-A1E9-4405-820F-FE2289551E83}" destId="{DDA14AF5-4622-4119-80C8-314FE792DB79}" srcOrd="0" destOrd="0" parTransId="{F9EC0BCB-4ED0-4E9F-9560-CF9D62681F50}" sibTransId="{D40EF882-6407-4AD8-8126-317C168C079C}"/>
    <dgm:cxn modelId="{F480A43A-A9A1-4B35-A761-48428762B83F}" type="presParOf" srcId="{D7C4F595-091B-4FC4-B053-AB7C34C27D2B}" destId="{9FE3B3C3-19BF-4DF5-B73A-E2EA0615C10C}" srcOrd="0" destOrd="0" presId="urn:microsoft.com/office/officeart/2008/layout/AlternatingHexagons"/>
    <dgm:cxn modelId="{74871E24-1168-4837-9D33-2939939BFF28}" type="presParOf" srcId="{9FE3B3C3-19BF-4DF5-B73A-E2EA0615C10C}" destId="{4F015D9D-9C65-4B49-A323-D81EC2C0E21C}" srcOrd="0" destOrd="0" presId="urn:microsoft.com/office/officeart/2008/layout/AlternatingHexagons"/>
    <dgm:cxn modelId="{E87C8D35-5623-4855-9218-4B937A4CCBD4}" type="presParOf" srcId="{9FE3B3C3-19BF-4DF5-B73A-E2EA0615C10C}" destId="{51CD1448-9A80-4B25-B805-8AB2C911235E}" srcOrd="1" destOrd="0" presId="urn:microsoft.com/office/officeart/2008/layout/AlternatingHexagons"/>
    <dgm:cxn modelId="{D2C2D759-59BC-4C0A-90F7-2A1FCCEDA104}" type="presParOf" srcId="{9FE3B3C3-19BF-4DF5-B73A-E2EA0615C10C}" destId="{B3C10133-DD6B-42C0-A724-84F0DE479984}" srcOrd="2" destOrd="0" presId="urn:microsoft.com/office/officeart/2008/layout/AlternatingHexagons"/>
    <dgm:cxn modelId="{FF931023-6AAF-47E0-97DB-6B665CEEF70A}" type="presParOf" srcId="{9FE3B3C3-19BF-4DF5-B73A-E2EA0615C10C}" destId="{3C50C663-1324-450F-993E-FD5380FEAFF8}" srcOrd="3" destOrd="0" presId="urn:microsoft.com/office/officeart/2008/layout/AlternatingHexagons"/>
    <dgm:cxn modelId="{B91D3E3D-EF97-4E77-AB37-9A53F30D12B1}" type="presParOf" srcId="{9FE3B3C3-19BF-4DF5-B73A-E2EA0615C10C}" destId="{24CD7AA8-FBD3-4662-B390-26DF9FFD4048}" srcOrd="4" destOrd="0" presId="urn:microsoft.com/office/officeart/2008/layout/AlternatingHexagons"/>
    <dgm:cxn modelId="{8842D3CE-7FCC-4E84-8F80-F53193DC4976}" type="presParOf" srcId="{D7C4F595-091B-4FC4-B053-AB7C34C27D2B}" destId="{15E7E2C6-5C00-45BF-8212-815C63A76330}" srcOrd="1" destOrd="0" presId="urn:microsoft.com/office/officeart/2008/layout/AlternatingHexagons"/>
    <dgm:cxn modelId="{57F57D46-9B03-4C1F-9EEB-DC0B55B741DB}" type="presParOf" srcId="{D7C4F595-091B-4FC4-B053-AB7C34C27D2B}" destId="{FE621842-13D0-4D90-92CB-775B9BC32DD9}" srcOrd="2" destOrd="0" presId="urn:microsoft.com/office/officeart/2008/layout/AlternatingHexagons"/>
    <dgm:cxn modelId="{E8FC464C-15B5-40AB-BB0B-B5FF1326D6F3}" type="presParOf" srcId="{FE621842-13D0-4D90-92CB-775B9BC32DD9}" destId="{E90ABBDE-185E-4068-95D8-61033AED9A14}" srcOrd="0" destOrd="0" presId="urn:microsoft.com/office/officeart/2008/layout/AlternatingHexagons"/>
    <dgm:cxn modelId="{785E8422-4474-4629-AE14-B5F3E403D104}" type="presParOf" srcId="{FE621842-13D0-4D90-92CB-775B9BC32DD9}" destId="{0BE7DB9C-348A-4035-A3A9-6C797AB84630}" srcOrd="1" destOrd="0" presId="urn:microsoft.com/office/officeart/2008/layout/AlternatingHexagons"/>
    <dgm:cxn modelId="{1E35C5EB-63BB-4935-ACC6-5B1F3C8FFDB6}" type="presParOf" srcId="{FE621842-13D0-4D90-92CB-775B9BC32DD9}" destId="{6797D3CE-44FC-4D97-A4B2-DB1D86205103}" srcOrd="2" destOrd="0" presId="urn:microsoft.com/office/officeart/2008/layout/AlternatingHexagons"/>
    <dgm:cxn modelId="{D14EC690-7208-4CF3-AE44-C09608037578}" type="presParOf" srcId="{FE621842-13D0-4D90-92CB-775B9BC32DD9}" destId="{632A114C-301B-46FB-BA74-AA8C7664523F}" srcOrd="3" destOrd="0" presId="urn:microsoft.com/office/officeart/2008/layout/AlternatingHexagons"/>
    <dgm:cxn modelId="{4F5C6CE4-1D64-4A94-AEC5-C83BF755F371}" type="presParOf" srcId="{FE621842-13D0-4D90-92CB-775B9BC32DD9}" destId="{E90815B5-03A3-44AB-B862-15A0DAAA9BB2}" srcOrd="4" destOrd="0" presId="urn:microsoft.com/office/officeart/2008/layout/AlternatingHexagons"/>
    <dgm:cxn modelId="{F8693D5E-B40C-4FC1-AE47-F30DF64AB8C8}" type="presParOf" srcId="{D7C4F595-091B-4FC4-B053-AB7C34C27D2B}" destId="{3B7CC5B2-7891-4D31-BB2E-C58CD2EB1135}" srcOrd="3" destOrd="0" presId="urn:microsoft.com/office/officeart/2008/layout/AlternatingHexagons"/>
    <dgm:cxn modelId="{22E3CA88-C28B-434D-850B-FD694590A985}" type="presParOf" srcId="{D7C4F595-091B-4FC4-B053-AB7C34C27D2B}" destId="{818971F3-B9AE-4BB5-8E35-E7CDE9C5AABB}" srcOrd="4" destOrd="0" presId="urn:microsoft.com/office/officeart/2008/layout/AlternatingHexagons"/>
    <dgm:cxn modelId="{02389D62-5DAC-4053-B9D1-D71F84E0063B}" type="presParOf" srcId="{818971F3-B9AE-4BB5-8E35-E7CDE9C5AABB}" destId="{57D56299-5FFB-456E-B76E-8C2C023AAD45}" srcOrd="0" destOrd="0" presId="urn:microsoft.com/office/officeart/2008/layout/AlternatingHexagons"/>
    <dgm:cxn modelId="{BBFA6CEA-875C-44EF-B30D-5D2D5BE1E362}" type="presParOf" srcId="{818971F3-B9AE-4BB5-8E35-E7CDE9C5AABB}" destId="{FA9A420D-D667-41E4-9919-06A68A3570CC}" srcOrd="1" destOrd="0" presId="urn:microsoft.com/office/officeart/2008/layout/AlternatingHexagons"/>
    <dgm:cxn modelId="{0EEEC3CF-8866-4B5C-AC9B-96895916C44A}" type="presParOf" srcId="{818971F3-B9AE-4BB5-8E35-E7CDE9C5AABB}" destId="{4A25368D-435C-42D2-9226-17B060742CEB}" srcOrd="2" destOrd="0" presId="urn:microsoft.com/office/officeart/2008/layout/AlternatingHexagons"/>
    <dgm:cxn modelId="{167102DA-2DD1-4F56-8EAA-54122E2E2FA2}" type="presParOf" srcId="{818971F3-B9AE-4BB5-8E35-E7CDE9C5AABB}" destId="{102F2EEC-6BAA-49FC-A1FB-FB15CDC46899}" srcOrd="3" destOrd="0" presId="urn:microsoft.com/office/officeart/2008/layout/AlternatingHexagons"/>
    <dgm:cxn modelId="{3E66B9CA-7640-4A55-92B8-1FCDE0D1A2C4}" type="presParOf" srcId="{818971F3-B9AE-4BB5-8E35-E7CDE9C5AABB}" destId="{11C9843E-CEF5-495E-87A7-BF3792E1B7A2}" srcOrd="4" destOrd="0" presId="urn:microsoft.com/office/officeart/2008/layout/AlternatingHexagons"/>
    <dgm:cxn modelId="{786C2263-98CC-4CAF-8172-AD322514D6DE}" type="presParOf" srcId="{D7C4F595-091B-4FC4-B053-AB7C34C27D2B}" destId="{833DECD9-2E30-42CB-9DC2-8DEF72624121}" srcOrd="5" destOrd="0" presId="urn:microsoft.com/office/officeart/2008/layout/AlternatingHexagons"/>
    <dgm:cxn modelId="{E35AE703-9221-4DB8-A15C-CC988C69CB8D}" type="presParOf" srcId="{D7C4F595-091B-4FC4-B053-AB7C34C27D2B}" destId="{FBC02024-5303-4B5F-85BC-B06849142B09}" srcOrd="6" destOrd="0" presId="urn:microsoft.com/office/officeart/2008/layout/AlternatingHexagons"/>
    <dgm:cxn modelId="{29FA27E8-31EF-4535-8F31-9E7B3F228E8C}" type="presParOf" srcId="{FBC02024-5303-4B5F-85BC-B06849142B09}" destId="{DC3C5D82-D195-4663-8665-F2BA6A1B1FC3}" srcOrd="0" destOrd="0" presId="urn:microsoft.com/office/officeart/2008/layout/AlternatingHexagons"/>
    <dgm:cxn modelId="{8BE3B5DD-9C06-445F-ADD9-2F614969C130}" type="presParOf" srcId="{FBC02024-5303-4B5F-85BC-B06849142B09}" destId="{F69C12B9-4F44-4901-B0A9-5C168D353B50}" srcOrd="1" destOrd="0" presId="urn:microsoft.com/office/officeart/2008/layout/AlternatingHexagons"/>
    <dgm:cxn modelId="{AE79B9F6-4B47-4F33-99A7-8C4617C2B989}" type="presParOf" srcId="{FBC02024-5303-4B5F-85BC-B06849142B09}" destId="{E130B26D-2BBF-46AD-8ACA-7E06DDBD7B81}" srcOrd="2" destOrd="0" presId="urn:microsoft.com/office/officeart/2008/layout/AlternatingHexagons"/>
    <dgm:cxn modelId="{6FFC167B-227C-405E-A3E3-951DEE60127E}" type="presParOf" srcId="{FBC02024-5303-4B5F-85BC-B06849142B09}" destId="{6F3F97B9-6DF4-4F1F-81B1-313EB97D0B12}" srcOrd="3" destOrd="0" presId="urn:microsoft.com/office/officeart/2008/layout/AlternatingHexagons"/>
    <dgm:cxn modelId="{2A4DD780-9CC6-4814-8804-88543A5D97DD}" type="presParOf" srcId="{FBC02024-5303-4B5F-85BC-B06849142B09}" destId="{71CC327C-A99A-4D2A-8CC3-418CB467E239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81EEE8-F60D-4E7C-84DE-4BB1647702B3}" type="doc">
      <dgm:prSet loTypeId="urn:microsoft.com/office/officeart/2005/8/layout/chart3" loCatId="cycle" qsTypeId="urn:microsoft.com/office/officeart/2005/8/quickstyle/simple1" qsCatId="simple" csTypeId="urn:microsoft.com/office/officeart/2005/8/colors/accent3_1" csCatId="accent3" phldr="1"/>
      <dgm:spPr/>
    </dgm:pt>
    <dgm:pt modelId="{6B7BBD30-FACD-4206-99CF-57B25A35850F}">
      <dgm:prSet phldrT="[Text]" custT="1"/>
      <dgm:spPr/>
      <dgm:t>
        <a:bodyPr/>
        <a:lstStyle/>
        <a:p>
          <a:r>
            <a:rPr lang="en-US" sz="1600" b="1" dirty="0"/>
            <a:t>Data Analysis &amp; Management</a:t>
          </a:r>
          <a:r>
            <a:rPr lang="en-US" sz="1600" dirty="0"/>
            <a:t>: Utilized Python</a:t>
          </a:r>
        </a:p>
      </dgm:t>
    </dgm:pt>
    <dgm:pt modelId="{B0D615CB-5309-459F-83F1-AF4A8224855B}" type="parTrans" cxnId="{3228996C-4738-4F77-A627-3527B8BFD829}">
      <dgm:prSet/>
      <dgm:spPr/>
      <dgm:t>
        <a:bodyPr/>
        <a:lstStyle/>
        <a:p>
          <a:endParaRPr lang="en-US"/>
        </a:p>
      </dgm:t>
    </dgm:pt>
    <dgm:pt modelId="{5ADAAAFE-E714-41D2-AD72-39E8257904DF}" type="sibTrans" cxnId="{3228996C-4738-4F77-A627-3527B8BFD829}">
      <dgm:prSet/>
      <dgm:spPr/>
      <dgm:t>
        <a:bodyPr/>
        <a:lstStyle/>
        <a:p>
          <a:endParaRPr lang="en-US"/>
        </a:p>
      </dgm:t>
    </dgm:pt>
    <dgm:pt modelId="{5F1038F0-608E-4627-8DEA-312DBAE98F0D}">
      <dgm:prSet phldrT="[Text]" custT="1"/>
      <dgm:spPr/>
      <dgm:t>
        <a:bodyPr/>
        <a:lstStyle/>
        <a:p>
          <a:r>
            <a:rPr lang="en-US" sz="1600" b="1" dirty="0"/>
            <a:t>Client Collaboration</a:t>
          </a:r>
          <a:r>
            <a:rPr lang="en-US" sz="1600" dirty="0"/>
            <a:t>: Supported  cross-functional teams </a:t>
          </a:r>
        </a:p>
      </dgm:t>
    </dgm:pt>
    <dgm:pt modelId="{50043297-7178-47E0-9C21-F55B31DF9398}" type="parTrans" cxnId="{9EC0538A-A243-4B5D-B7C7-F49480353171}">
      <dgm:prSet/>
      <dgm:spPr/>
      <dgm:t>
        <a:bodyPr/>
        <a:lstStyle/>
        <a:p>
          <a:endParaRPr lang="en-US"/>
        </a:p>
      </dgm:t>
    </dgm:pt>
    <dgm:pt modelId="{1C0C796F-B4A0-41DF-8176-B58FECAB0A6A}" type="sibTrans" cxnId="{9EC0538A-A243-4B5D-B7C7-F49480353171}">
      <dgm:prSet/>
      <dgm:spPr/>
      <dgm:t>
        <a:bodyPr/>
        <a:lstStyle/>
        <a:p>
          <a:endParaRPr lang="en-US"/>
        </a:p>
      </dgm:t>
    </dgm:pt>
    <dgm:pt modelId="{6CAB0E63-A79C-450C-9CA9-88CC57A97C68}">
      <dgm:prSet phldrT="[Text]" custT="1"/>
      <dgm:spPr/>
      <dgm:t>
        <a:bodyPr/>
        <a:lstStyle/>
        <a:p>
          <a:r>
            <a:rPr lang="en-US" sz="1600" b="1" dirty="0"/>
            <a:t>Model Development</a:t>
          </a:r>
          <a:r>
            <a:rPr lang="en-US" sz="1600" dirty="0"/>
            <a:t>: </a:t>
          </a:r>
          <a:r>
            <a:rPr lang="en-US" sz="1600" dirty="0" err="1"/>
            <a:t>Classifcation</a:t>
          </a:r>
          <a:r>
            <a:rPr lang="en-US" sz="1600" dirty="0"/>
            <a:t> &amp; Regression</a:t>
          </a:r>
        </a:p>
      </dgm:t>
    </dgm:pt>
    <dgm:pt modelId="{291BF798-4FA7-4DB4-951C-8E298C3B58E1}" type="parTrans" cxnId="{DCC1320F-EC52-4E5C-AE00-C5A70E8F43CE}">
      <dgm:prSet/>
      <dgm:spPr/>
      <dgm:t>
        <a:bodyPr/>
        <a:lstStyle/>
        <a:p>
          <a:endParaRPr lang="en-US"/>
        </a:p>
      </dgm:t>
    </dgm:pt>
    <dgm:pt modelId="{4986EEA6-AC84-4041-BEF0-6327BB0FD4EE}" type="sibTrans" cxnId="{DCC1320F-EC52-4E5C-AE00-C5A70E8F43CE}">
      <dgm:prSet/>
      <dgm:spPr/>
      <dgm:t>
        <a:bodyPr/>
        <a:lstStyle/>
        <a:p>
          <a:endParaRPr lang="en-US"/>
        </a:p>
      </dgm:t>
    </dgm:pt>
    <dgm:pt modelId="{53CF92D7-3FC5-46E1-8FAB-198B6F0510AD}">
      <dgm:prSet phldrT="[Text]" custT="1"/>
      <dgm:spPr/>
      <dgm:t>
        <a:bodyPr/>
        <a:lstStyle/>
        <a:p>
          <a:r>
            <a:rPr lang="en-US" sz="1600" b="1" dirty="0"/>
            <a:t>Insight Communication</a:t>
          </a:r>
          <a:r>
            <a:rPr lang="en-US" sz="1600" dirty="0"/>
            <a:t>: Interpreted &amp; presented model outputs</a:t>
          </a:r>
        </a:p>
      </dgm:t>
    </dgm:pt>
    <dgm:pt modelId="{549FD625-D289-4838-AEEA-4121357728AF}" type="parTrans" cxnId="{2CEF2D85-A415-4A45-82D6-C8AD0963E6BB}">
      <dgm:prSet/>
      <dgm:spPr/>
      <dgm:t>
        <a:bodyPr/>
        <a:lstStyle/>
        <a:p>
          <a:endParaRPr lang="en-US"/>
        </a:p>
      </dgm:t>
    </dgm:pt>
    <dgm:pt modelId="{69536BFE-C199-4F7C-B6CB-CD9B3C02A239}" type="sibTrans" cxnId="{2CEF2D85-A415-4A45-82D6-C8AD0963E6BB}">
      <dgm:prSet/>
      <dgm:spPr/>
      <dgm:t>
        <a:bodyPr/>
        <a:lstStyle/>
        <a:p>
          <a:endParaRPr lang="en-US"/>
        </a:p>
      </dgm:t>
    </dgm:pt>
    <dgm:pt modelId="{6AED674D-E21C-420B-A9D2-5C61DEF9D656}" type="pres">
      <dgm:prSet presAssocID="{AD81EEE8-F60D-4E7C-84DE-4BB1647702B3}" presName="compositeShape" presStyleCnt="0">
        <dgm:presLayoutVars>
          <dgm:chMax val="7"/>
          <dgm:dir/>
          <dgm:resizeHandles val="exact"/>
        </dgm:presLayoutVars>
      </dgm:prSet>
      <dgm:spPr/>
    </dgm:pt>
    <dgm:pt modelId="{48358F21-5DBA-4AA7-ABD3-C9E2DAFDECD5}" type="pres">
      <dgm:prSet presAssocID="{AD81EEE8-F60D-4E7C-84DE-4BB1647702B3}" presName="wedge1" presStyleLbl="node1" presStyleIdx="0" presStyleCnt="4" custScaleY="93936"/>
      <dgm:spPr/>
    </dgm:pt>
    <dgm:pt modelId="{B965FF54-2AA4-4018-8FEC-48967C2781AC}" type="pres">
      <dgm:prSet presAssocID="{AD81EEE8-F60D-4E7C-84DE-4BB1647702B3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6E67AC5-466C-4C81-AE6D-4CA66348D66D}" type="pres">
      <dgm:prSet presAssocID="{AD81EEE8-F60D-4E7C-84DE-4BB1647702B3}" presName="wedge2" presStyleLbl="node1" presStyleIdx="1" presStyleCnt="4"/>
      <dgm:spPr/>
    </dgm:pt>
    <dgm:pt modelId="{BC30E55C-7633-488A-9FF2-9F0F6E029CBB}" type="pres">
      <dgm:prSet presAssocID="{AD81EEE8-F60D-4E7C-84DE-4BB1647702B3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4110651-CD5E-45D6-887B-1BB7108F5F1A}" type="pres">
      <dgm:prSet presAssocID="{AD81EEE8-F60D-4E7C-84DE-4BB1647702B3}" presName="wedge3" presStyleLbl="node1" presStyleIdx="2" presStyleCnt="4"/>
      <dgm:spPr/>
    </dgm:pt>
    <dgm:pt modelId="{FD55D241-AEFF-42AC-A8ED-E09DADC4B6B8}" type="pres">
      <dgm:prSet presAssocID="{AD81EEE8-F60D-4E7C-84DE-4BB1647702B3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BB01F4E-6F3D-4496-BF4F-1E9B44FC1249}" type="pres">
      <dgm:prSet presAssocID="{AD81EEE8-F60D-4E7C-84DE-4BB1647702B3}" presName="wedge4" presStyleLbl="node1" presStyleIdx="3" presStyleCnt="4"/>
      <dgm:spPr/>
    </dgm:pt>
    <dgm:pt modelId="{BE654416-290D-4BAF-BE8F-F7926FD9D035}" type="pres">
      <dgm:prSet presAssocID="{AD81EEE8-F60D-4E7C-84DE-4BB1647702B3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CC1320F-EC52-4E5C-AE00-C5A70E8F43CE}" srcId="{AD81EEE8-F60D-4E7C-84DE-4BB1647702B3}" destId="{6CAB0E63-A79C-450C-9CA9-88CC57A97C68}" srcOrd="1" destOrd="0" parTransId="{291BF798-4FA7-4DB4-951C-8E298C3B58E1}" sibTransId="{4986EEA6-AC84-4041-BEF0-6327BB0FD4EE}"/>
    <dgm:cxn modelId="{FAE55364-6A84-465A-8D4D-110E91C7C571}" type="presOf" srcId="{5F1038F0-608E-4627-8DEA-312DBAE98F0D}" destId="{FD55D241-AEFF-42AC-A8ED-E09DADC4B6B8}" srcOrd="1" destOrd="0" presId="urn:microsoft.com/office/officeart/2005/8/layout/chart3"/>
    <dgm:cxn modelId="{FB0D4367-4567-4543-ACDA-E57B8DE60263}" type="presOf" srcId="{6B7BBD30-FACD-4206-99CF-57B25A35850F}" destId="{B965FF54-2AA4-4018-8FEC-48967C2781AC}" srcOrd="1" destOrd="0" presId="urn:microsoft.com/office/officeart/2005/8/layout/chart3"/>
    <dgm:cxn modelId="{4B8E7749-6F43-443A-8015-D420C19A1163}" type="presOf" srcId="{5F1038F0-608E-4627-8DEA-312DBAE98F0D}" destId="{14110651-CD5E-45D6-887B-1BB7108F5F1A}" srcOrd="0" destOrd="0" presId="urn:microsoft.com/office/officeart/2005/8/layout/chart3"/>
    <dgm:cxn modelId="{3228996C-4738-4F77-A627-3527B8BFD829}" srcId="{AD81EEE8-F60D-4E7C-84DE-4BB1647702B3}" destId="{6B7BBD30-FACD-4206-99CF-57B25A35850F}" srcOrd="0" destOrd="0" parTransId="{B0D615CB-5309-459F-83F1-AF4A8224855B}" sibTransId="{5ADAAAFE-E714-41D2-AD72-39E8257904DF}"/>
    <dgm:cxn modelId="{2CEF2D85-A415-4A45-82D6-C8AD0963E6BB}" srcId="{AD81EEE8-F60D-4E7C-84DE-4BB1647702B3}" destId="{53CF92D7-3FC5-46E1-8FAB-198B6F0510AD}" srcOrd="3" destOrd="0" parTransId="{549FD625-D289-4838-AEEA-4121357728AF}" sibTransId="{69536BFE-C199-4F7C-B6CB-CD9B3C02A239}"/>
    <dgm:cxn modelId="{9EC0538A-A243-4B5D-B7C7-F49480353171}" srcId="{AD81EEE8-F60D-4E7C-84DE-4BB1647702B3}" destId="{5F1038F0-608E-4627-8DEA-312DBAE98F0D}" srcOrd="2" destOrd="0" parTransId="{50043297-7178-47E0-9C21-F55B31DF9398}" sibTransId="{1C0C796F-B4A0-41DF-8176-B58FECAB0A6A}"/>
    <dgm:cxn modelId="{EB48718B-B9B3-4D53-8512-CB2202F70BC9}" type="presOf" srcId="{6CAB0E63-A79C-450C-9CA9-88CC57A97C68}" destId="{96E67AC5-466C-4C81-AE6D-4CA66348D66D}" srcOrd="0" destOrd="0" presId="urn:microsoft.com/office/officeart/2005/8/layout/chart3"/>
    <dgm:cxn modelId="{6B2E3AAC-217C-4D6B-9973-2281615A533B}" type="presOf" srcId="{AD81EEE8-F60D-4E7C-84DE-4BB1647702B3}" destId="{6AED674D-E21C-420B-A9D2-5C61DEF9D656}" srcOrd="0" destOrd="0" presId="urn:microsoft.com/office/officeart/2005/8/layout/chart3"/>
    <dgm:cxn modelId="{C4D395AE-4B14-4922-B263-96B63C3E85B1}" type="presOf" srcId="{53CF92D7-3FC5-46E1-8FAB-198B6F0510AD}" destId="{5BB01F4E-6F3D-4496-BF4F-1E9B44FC1249}" srcOrd="0" destOrd="0" presId="urn:microsoft.com/office/officeart/2005/8/layout/chart3"/>
    <dgm:cxn modelId="{12C598E0-171D-46D2-B139-715EED93D755}" type="presOf" srcId="{53CF92D7-3FC5-46E1-8FAB-198B6F0510AD}" destId="{BE654416-290D-4BAF-BE8F-F7926FD9D035}" srcOrd="1" destOrd="0" presId="urn:microsoft.com/office/officeart/2005/8/layout/chart3"/>
    <dgm:cxn modelId="{C898BBE5-5A44-43B2-B112-604842014ED7}" type="presOf" srcId="{6CAB0E63-A79C-450C-9CA9-88CC57A97C68}" destId="{BC30E55C-7633-488A-9FF2-9F0F6E029CBB}" srcOrd="1" destOrd="0" presId="urn:microsoft.com/office/officeart/2005/8/layout/chart3"/>
    <dgm:cxn modelId="{8AB6EBF8-28BE-41BE-9673-6C336A64D3CE}" type="presOf" srcId="{6B7BBD30-FACD-4206-99CF-57B25A35850F}" destId="{48358F21-5DBA-4AA7-ABD3-C9E2DAFDECD5}" srcOrd="0" destOrd="0" presId="urn:microsoft.com/office/officeart/2005/8/layout/chart3"/>
    <dgm:cxn modelId="{D730B2A0-BF8F-4876-9CAE-DF8A159323EB}" type="presParOf" srcId="{6AED674D-E21C-420B-A9D2-5C61DEF9D656}" destId="{48358F21-5DBA-4AA7-ABD3-C9E2DAFDECD5}" srcOrd="0" destOrd="0" presId="urn:microsoft.com/office/officeart/2005/8/layout/chart3"/>
    <dgm:cxn modelId="{8CBCCE61-0C41-4920-A506-690041556CD3}" type="presParOf" srcId="{6AED674D-E21C-420B-A9D2-5C61DEF9D656}" destId="{B965FF54-2AA4-4018-8FEC-48967C2781AC}" srcOrd="1" destOrd="0" presId="urn:microsoft.com/office/officeart/2005/8/layout/chart3"/>
    <dgm:cxn modelId="{8DB86651-9B18-4D08-BC03-2322BC20E69B}" type="presParOf" srcId="{6AED674D-E21C-420B-A9D2-5C61DEF9D656}" destId="{96E67AC5-466C-4C81-AE6D-4CA66348D66D}" srcOrd="2" destOrd="0" presId="urn:microsoft.com/office/officeart/2005/8/layout/chart3"/>
    <dgm:cxn modelId="{324C57DA-69E3-4E3B-BD52-B12CA9F24AFB}" type="presParOf" srcId="{6AED674D-E21C-420B-A9D2-5C61DEF9D656}" destId="{BC30E55C-7633-488A-9FF2-9F0F6E029CBB}" srcOrd="3" destOrd="0" presId="urn:microsoft.com/office/officeart/2005/8/layout/chart3"/>
    <dgm:cxn modelId="{1315BC58-4FD8-4251-A499-51EAEBF438C1}" type="presParOf" srcId="{6AED674D-E21C-420B-A9D2-5C61DEF9D656}" destId="{14110651-CD5E-45D6-887B-1BB7108F5F1A}" srcOrd="4" destOrd="0" presId="urn:microsoft.com/office/officeart/2005/8/layout/chart3"/>
    <dgm:cxn modelId="{84E32417-31E3-4F8D-BEFE-05C569BA352A}" type="presParOf" srcId="{6AED674D-E21C-420B-A9D2-5C61DEF9D656}" destId="{FD55D241-AEFF-42AC-A8ED-E09DADC4B6B8}" srcOrd="5" destOrd="0" presId="urn:microsoft.com/office/officeart/2005/8/layout/chart3"/>
    <dgm:cxn modelId="{23CE0BAA-3931-4844-A2CD-15BDDE852565}" type="presParOf" srcId="{6AED674D-E21C-420B-A9D2-5C61DEF9D656}" destId="{5BB01F4E-6F3D-4496-BF4F-1E9B44FC1249}" srcOrd="6" destOrd="0" presId="urn:microsoft.com/office/officeart/2005/8/layout/chart3"/>
    <dgm:cxn modelId="{D1D571DA-D18E-44BE-A92A-B51A6AB38C4A}" type="presParOf" srcId="{6AED674D-E21C-420B-A9D2-5C61DEF9D656}" destId="{BE654416-290D-4BAF-BE8F-F7926FD9D035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C8002D-1FBF-4768-8765-B3B6A2240D2A}" type="doc">
      <dgm:prSet loTypeId="urn:microsoft.com/office/officeart/2005/8/layout/vList6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4DD3C438-DF90-4123-AA81-1F5FB6DD8893}">
      <dgm:prSet phldrT="[Text]"/>
      <dgm:spPr/>
      <dgm:t>
        <a:bodyPr/>
        <a:lstStyle/>
        <a:p>
          <a:r>
            <a:rPr lang="en-US" dirty="0"/>
            <a:t>Premium Pricing Prediction Analysis</a:t>
          </a:r>
        </a:p>
      </dgm:t>
    </dgm:pt>
    <dgm:pt modelId="{BCE8D493-6A2E-4E0C-8E78-B5B310A7C2B2}" type="parTrans" cxnId="{860418D9-F824-471F-A365-ECC826BFF53C}">
      <dgm:prSet/>
      <dgm:spPr/>
      <dgm:t>
        <a:bodyPr/>
        <a:lstStyle/>
        <a:p>
          <a:endParaRPr lang="en-US"/>
        </a:p>
      </dgm:t>
    </dgm:pt>
    <dgm:pt modelId="{DD868C1A-76F4-4475-963A-56FF738BA99E}" type="sibTrans" cxnId="{860418D9-F824-471F-A365-ECC826BFF53C}">
      <dgm:prSet/>
      <dgm:spPr/>
      <dgm:t>
        <a:bodyPr/>
        <a:lstStyle/>
        <a:p>
          <a:endParaRPr lang="en-US"/>
        </a:p>
      </dgm:t>
    </dgm:pt>
    <dgm:pt modelId="{B6958CDC-38E5-41AB-90D2-9DE9D900E179}">
      <dgm:prSet phldrT="[Text]" custT="1"/>
      <dgm:spPr/>
      <dgm:t>
        <a:bodyPr/>
        <a:lstStyle/>
        <a:p>
          <a:r>
            <a:rPr lang="en-US" sz="1600" b="1" dirty="0"/>
            <a:t>Objective</a:t>
          </a:r>
          <a:r>
            <a:rPr lang="en-US" sz="1600" dirty="0"/>
            <a:t>: forecast accurate premium amounts of motor insurance policies based on historical data and relevant features.</a:t>
          </a:r>
        </a:p>
      </dgm:t>
    </dgm:pt>
    <dgm:pt modelId="{CDD284FF-A035-4DE9-BBFC-0373A042ACD5}" type="parTrans" cxnId="{61B0CB65-1BB3-411C-980F-EEA85C14B520}">
      <dgm:prSet/>
      <dgm:spPr/>
      <dgm:t>
        <a:bodyPr/>
        <a:lstStyle/>
        <a:p>
          <a:endParaRPr lang="en-US"/>
        </a:p>
      </dgm:t>
    </dgm:pt>
    <dgm:pt modelId="{78CE32FF-C3D8-4780-876E-FFEC21F06967}" type="sibTrans" cxnId="{61B0CB65-1BB3-411C-980F-EEA85C14B520}">
      <dgm:prSet/>
      <dgm:spPr/>
      <dgm:t>
        <a:bodyPr/>
        <a:lstStyle/>
        <a:p>
          <a:endParaRPr lang="en-US"/>
        </a:p>
      </dgm:t>
    </dgm:pt>
    <dgm:pt modelId="{DA74A8D2-9148-41F1-A44D-86CDAA245EF7}">
      <dgm:prSet phldrT="[Text]" custT="1"/>
      <dgm:spPr/>
      <dgm:t>
        <a:bodyPr/>
        <a:lstStyle/>
        <a:p>
          <a:r>
            <a:rPr lang="en-US" sz="1600" b="1" dirty="0"/>
            <a:t>Impact</a:t>
          </a:r>
          <a:r>
            <a:rPr lang="en-US" sz="1600" dirty="0"/>
            <a:t>: aimed to assist underwriters in improving pricing precision, thus improving profitability and reducing risk.</a:t>
          </a:r>
        </a:p>
      </dgm:t>
    </dgm:pt>
    <dgm:pt modelId="{711452D8-ACC0-4499-9ADD-833A405BBDCF}" type="parTrans" cxnId="{9B1644C5-643B-4AA5-9EDC-087C1A58CC27}">
      <dgm:prSet/>
      <dgm:spPr/>
      <dgm:t>
        <a:bodyPr/>
        <a:lstStyle/>
        <a:p>
          <a:endParaRPr lang="en-US"/>
        </a:p>
      </dgm:t>
    </dgm:pt>
    <dgm:pt modelId="{C08A932C-29FB-4086-8091-FA62804A4509}" type="sibTrans" cxnId="{9B1644C5-643B-4AA5-9EDC-087C1A58CC27}">
      <dgm:prSet/>
      <dgm:spPr/>
      <dgm:t>
        <a:bodyPr/>
        <a:lstStyle/>
        <a:p>
          <a:endParaRPr lang="en-US"/>
        </a:p>
      </dgm:t>
    </dgm:pt>
    <dgm:pt modelId="{571E6AC0-708D-4690-9DB5-EEC717F29CCB}">
      <dgm:prSet phldrT="[Text]"/>
      <dgm:spPr/>
      <dgm:t>
        <a:bodyPr/>
        <a:lstStyle/>
        <a:p>
          <a:r>
            <a:rPr lang="en-US" dirty="0"/>
            <a:t>Agent Scorecard</a:t>
          </a:r>
        </a:p>
      </dgm:t>
    </dgm:pt>
    <dgm:pt modelId="{FC206466-6783-4596-80F0-8F79AC03C9CE}" type="parTrans" cxnId="{8D9A131E-9251-4145-B64A-5915EBEE4B11}">
      <dgm:prSet/>
      <dgm:spPr/>
      <dgm:t>
        <a:bodyPr/>
        <a:lstStyle/>
        <a:p>
          <a:endParaRPr lang="en-US"/>
        </a:p>
      </dgm:t>
    </dgm:pt>
    <dgm:pt modelId="{424440F3-D202-43E1-AA32-D846C7629274}" type="sibTrans" cxnId="{8D9A131E-9251-4145-B64A-5915EBEE4B11}">
      <dgm:prSet/>
      <dgm:spPr/>
      <dgm:t>
        <a:bodyPr/>
        <a:lstStyle/>
        <a:p>
          <a:endParaRPr lang="en-US"/>
        </a:p>
      </dgm:t>
    </dgm:pt>
    <dgm:pt modelId="{20FCA26C-AC61-42B5-BD33-DE0B90B0EE64}">
      <dgm:prSet phldrT="[Text]" custT="1"/>
      <dgm:spPr/>
      <dgm:t>
        <a:bodyPr/>
        <a:lstStyle/>
        <a:p>
          <a:r>
            <a:rPr lang="en-US" sz="1600" b="1" dirty="0"/>
            <a:t>Objective</a:t>
          </a:r>
          <a:r>
            <a:rPr lang="en-US" sz="1600" dirty="0"/>
            <a:t>: evaluate the performance of insurance agents using key business metrics such as policy count, frequency and profitability.</a:t>
          </a:r>
        </a:p>
      </dgm:t>
    </dgm:pt>
    <dgm:pt modelId="{9E6AF942-DD44-42B7-8DD5-ED40EFDE431F}" type="parTrans" cxnId="{C38C4E5B-A289-4077-9A87-9667E69C17C2}">
      <dgm:prSet/>
      <dgm:spPr/>
      <dgm:t>
        <a:bodyPr/>
        <a:lstStyle/>
        <a:p>
          <a:endParaRPr lang="en-US"/>
        </a:p>
      </dgm:t>
    </dgm:pt>
    <dgm:pt modelId="{6E43C7A7-08E2-4C12-8A29-522F44DD910D}" type="sibTrans" cxnId="{C38C4E5B-A289-4077-9A87-9667E69C17C2}">
      <dgm:prSet/>
      <dgm:spPr/>
      <dgm:t>
        <a:bodyPr/>
        <a:lstStyle/>
        <a:p>
          <a:endParaRPr lang="en-US"/>
        </a:p>
      </dgm:t>
    </dgm:pt>
    <dgm:pt modelId="{40ABF9B9-6327-4873-823E-FB55EEDDD0E8}">
      <dgm:prSet phldrT="[Text]" custT="1"/>
      <dgm:spPr/>
      <dgm:t>
        <a:bodyPr/>
        <a:lstStyle/>
        <a:p>
          <a:r>
            <a:rPr lang="en-US" sz="1600" b="1" dirty="0"/>
            <a:t>Outcome</a:t>
          </a:r>
          <a:r>
            <a:rPr lang="en-US" sz="1600" dirty="0"/>
            <a:t>: provide actionable insights for business teams to improve performance of underperforming agents and recognize top performers.</a:t>
          </a:r>
        </a:p>
      </dgm:t>
    </dgm:pt>
    <dgm:pt modelId="{62935B3F-12F3-4CE4-812E-5B3A1F2D88BA}" type="parTrans" cxnId="{F22FDD84-2921-490A-9134-4ED60BF66450}">
      <dgm:prSet/>
      <dgm:spPr/>
      <dgm:t>
        <a:bodyPr/>
        <a:lstStyle/>
        <a:p>
          <a:endParaRPr lang="en-US"/>
        </a:p>
      </dgm:t>
    </dgm:pt>
    <dgm:pt modelId="{E7661D79-2B10-4AEC-9C14-A6EC34187BAE}" type="sibTrans" cxnId="{F22FDD84-2921-490A-9134-4ED60BF66450}">
      <dgm:prSet/>
      <dgm:spPr/>
      <dgm:t>
        <a:bodyPr/>
        <a:lstStyle/>
        <a:p>
          <a:endParaRPr lang="en-US"/>
        </a:p>
      </dgm:t>
    </dgm:pt>
    <dgm:pt modelId="{292F31F1-2CA5-4AB2-9A8E-F1A772DCB9AD}" type="pres">
      <dgm:prSet presAssocID="{E4C8002D-1FBF-4768-8765-B3B6A2240D2A}" presName="Name0" presStyleCnt="0">
        <dgm:presLayoutVars>
          <dgm:dir/>
          <dgm:animLvl val="lvl"/>
          <dgm:resizeHandles/>
        </dgm:presLayoutVars>
      </dgm:prSet>
      <dgm:spPr/>
    </dgm:pt>
    <dgm:pt modelId="{D4004EC1-FDDE-49D1-A1E3-B479D957B911}" type="pres">
      <dgm:prSet presAssocID="{4DD3C438-DF90-4123-AA81-1F5FB6DD8893}" presName="linNode" presStyleCnt="0"/>
      <dgm:spPr/>
    </dgm:pt>
    <dgm:pt modelId="{2503685D-AEF6-4C5A-89C6-F9AF148C9044}" type="pres">
      <dgm:prSet presAssocID="{4DD3C438-DF90-4123-AA81-1F5FB6DD8893}" presName="parentShp" presStyleLbl="node1" presStyleIdx="0" presStyleCnt="2">
        <dgm:presLayoutVars>
          <dgm:bulletEnabled val="1"/>
        </dgm:presLayoutVars>
      </dgm:prSet>
      <dgm:spPr/>
    </dgm:pt>
    <dgm:pt modelId="{EDD0EE60-64EF-4131-A4DF-D1E52CB4DECF}" type="pres">
      <dgm:prSet presAssocID="{4DD3C438-DF90-4123-AA81-1F5FB6DD8893}" presName="childShp" presStyleLbl="bgAccFollowNode1" presStyleIdx="0" presStyleCnt="2" custScaleY="106718">
        <dgm:presLayoutVars>
          <dgm:bulletEnabled val="1"/>
        </dgm:presLayoutVars>
      </dgm:prSet>
      <dgm:spPr/>
    </dgm:pt>
    <dgm:pt modelId="{46C90F1E-4725-4B76-89AC-A2F4C0D6D81A}" type="pres">
      <dgm:prSet presAssocID="{DD868C1A-76F4-4475-963A-56FF738BA99E}" presName="spacing" presStyleCnt="0"/>
      <dgm:spPr/>
    </dgm:pt>
    <dgm:pt modelId="{3F101CD2-076E-4FF9-A5EE-63955DEF0483}" type="pres">
      <dgm:prSet presAssocID="{571E6AC0-708D-4690-9DB5-EEC717F29CCB}" presName="linNode" presStyleCnt="0"/>
      <dgm:spPr/>
    </dgm:pt>
    <dgm:pt modelId="{6066F41C-2554-4546-9EFB-86BB1F1533E2}" type="pres">
      <dgm:prSet presAssocID="{571E6AC0-708D-4690-9DB5-EEC717F29CCB}" presName="parentShp" presStyleLbl="node1" presStyleIdx="1" presStyleCnt="2">
        <dgm:presLayoutVars>
          <dgm:bulletEnabled val="1"/>
        </dgm:presLayoutVars>
      </dgm:prSet>
      <dgm:spPr/>
    </dgm:pt>
    <dgm:pt modelId="{09658EF1-29D8-4061-9F46-B41897E73B44}" type="pres">
      <dgm:prSet presAssocID="{571E6AC0-708D-4690-9DB5-EEC717F29CCB}" presName="childShp" presStyleLbl="bgAccFollowNode1" presStyleIdx="1" presStyleCnt="2" custScaleY="120104">
        <dgm:presLayoutVars>
          <dgm:bulletEnabled val="1"/>
        </dgm:presLayoutVars>
      </dgm:prSet>
      <dgm:spPr/>
    </dgm:pt>
  </dgm:ptLst>
  <dgm:cxnLst>
    <dgm:cxn modelId="{E1AD1C03-F359-4D52-97F4-F5AB062BC841}" type="presOf" srcId="{4DD3C438-DF90-4123-AA81-1F5FB6DD8893}" destId="{2503685D-AEF6-4C5A-89C6-F9AF148C9044}" srcOrd="0" destOrd="0" presId="urn:microsoft.com/office/officeart/2005/8/layout/vList6"/>
    <dgm:cxn modelId="{C9E91C0C-7B70-4535-8681-CCCA0FD71D42}" type="presOf" srcId="{40ABF9B9-6327-4873-823E-FB55EEDDD0E8}" destId="{09658EF1-29D8-4061-9F46-B41897E73B44}" srcOrd="0" destOrd="1" presId="urn:microsoft.com/office/officeart/2005/8/layout/vList6"/>
    <dgm:cxn modelId="{C6069D0D-86C6-48CA-B679-D5D7C66D30E5}" type="presOf" srcId="{E4C8002D-1FBF-4768-8765-B3B6A2240D2A}" destId="{292F31F1-2CA5-4AB2-9A8E-F1A772DCB9AD}" srcOrd="0" destOrd="0" presId="urn:microsoft.com/office/officeart/2005/8/layout/vList6"/>
    <dgm:cxn modelId="{8D9A131E-9251-4145-B64A-5915EBEE4B11}" srcId="{E4C8002D-1FBF-4768-8765-B3B6A2240D2A}" destId="{571E6AC0-708D-4690-9DB5-EEC717F29CCB}" srcOrd="1" destOrd="0" parTransId="{FC206466-6783-4596-80F0-8F79AC03C9CE}" sibTransId="{424440F3-D202-43E1-AA32-D846C7629274}"/>
    <dgm:cxn modelId="{C38C4E5B-A289-4077-9A87-9667E69C17C2}" srcId="{571E6AC0-708D-4690-9DB5-EEC717F29CCB}" destId="{20FCA26C-AC61-42B5-BD33-DE0B90B0EE64}" srcOrd="0" destOrd="0" parTransId="{9E6AF942-DD44-42B7-8DD5-ED40EFDE431F}" sibTransId="{6E43C7A7-08E2-4C12-8A29-522F44DD910D}"/>
    <dgm:cxn modelId="{61B0CB65-1BB3-411C-980F-EEA85C14B520}" srcId="{4DD3C438-DF90-4123-AA81-1F5FB6DD8893}" destId="{B6958CDC-38E5-41AB-90D2-9DE9D900E179}" srcOrd="0" destOrd="0" parTransId="{CDD284FF-A035-4DE9-BBFC-0373A042ACD5}" sibTransId="{78CE32FF-C3D8-4780-876E-FFEC21F06967}"/>
    <dgm:cxn modelId="{27E02750-8A74-4E12-B181-503DDF7E274D}" type="presOf" srcId="{20FCA26C-AC61-42B5-BD33-DE0B90B0EE64}" destId="{09658EF1-29D8-4061-9F46-B41897E73B44}" srcOrd="0" destOrd="0" presId="urn:microsoft.com/office/officeart/2005/8/layout/vList6"/>
    <dgm:cxn modelId="{C96FC058-6E22-4E97-88BE-6C7E330D78B7}" type="presOf" srcId="{DA74A8D2-9148-41F1-A44D-86CDAA245EF7}" destId="{EDD0EE60-64EF-4131-A4DF-D1E52CB4DECF}" srcOrd="0" destOrd="1" presId="urn:microsoft.com/office/officeart/2005/8/layout/vList6"/>
    <dgm:cxn modelId="{F22FDD84-2921-490A-9134-4ED60BF66450}" srcId="{571E6AC0-708D-4690-9DB5-EEC717F29CCB}" destId="{40ABF9B9-6327-4873-823E-FB55EEDDD0E8}" srcOrd="1" destOrd="0" parTransId="{62935B3F-12F3-4CE4-812E-5B3A1F2D88BA}" sibTransId="{E7661D79-2B10-4AEC-9C14-A6EC34187BAE}"/>
    <dgm:cxn modelId="{9B1644C5-643B-4AA5-9EDC-087C1A58CC27}" srcId="{4DD3C438-DF90-4123-AA81-1F5FB6DD8893}" destId="{DA74A8D2-9148-41F1-A44D-86CDAA245EF7}" srcOrd="1" destOrd="0" parTransId="{711452D8-ACC0-4499-9ADD-833A405BBDCF}" sibTransId="{C08A932C-29FB-4086-8091-FA62804A4509}"/>
    <dgm:cxn modelId="{B3F25BD2-F930-40CE-A79F-6581AE522139}" type="presOf" srcId="{571E6AC0-708D-4690-9DB5-EEC717F29CCB}" destId="{6066F41C-2554-4546-9EFB-86BB1F1533E2}" srcOrd="0" destOrd="0" presId="urn:microsoft.com/office/officeart/2005/8/layout/vList6"/>
    <dgm:cxn modelId="{860418D9-F824-471F-A365-ECC826BFF53C}" srcId="{E4C8002D-1FBF-4768-8765-B3B6A2240D2A}" destId="{4DD3C438-DF90-4123-AA81-1F5FB6DD8893}" srcOrd="0" destOrd="0" parTransId="{BCE8D493-6A2E-4E0C-8E78-B5B310A7C2B2}" sibTransId="{DD868C1A-76F4-4475-963A-56FF738BA99E}"/>
    <dgm:cxn modelId="{AB0EF8EE-4858-4B59-AB7A-E5BCC1573350}" type="presOf" srcId="{B6958CDC-38E5-41AB-90D2-9DE9D900E179}" destId="{EDD0EE60-64EF-4131-A4DF-D1E52CB4DECF}" srcOrd="0" destOrd="0" presId="urn:microsoft.com/office/officeart/2005/8/layout/vList6"/>
    <dgm:cxn modelId="{CED94E5B-36CB-406E-B470-F2925B96C739}" type="presParOf" srcId="{292F31F1-2CA5-4AB2-9A8E-F1A772DCB9AD}" destId="{D4004EC1-FDDE-49D1-A1E3-B479D957B911}" srcOrd="0" destOrd="0" presId="urn:microsoft.com/office/officeart/2005/8/layout/vList6"/>
    <dgm:cxn modelId="{E8A6AD6A-22B6-455F-AD78-92CBBB40062B}" type="presParOf" srcId="{D4004EC1-FDDE-49D1-A1E3-B479D957B911}" destId="{2503685D-AEF6-4C5A-89C6-F9AF148C9044}" srcOrd="0" destOrd="0" presId="urn:microsoft.com/office/officeart/2005/8/layout/vList6"/>
    <dgm:cxn modelId="{48B19693-F160-4586-B7D4-A963F7104AC6}" type="presParOf" srcId="{D4004EC1-FDDE-49D1-A1E3-B479D957B911}" destId="{EDD0EE60-64EF-4131-A4DF-D1E52CB4DECF}" srcOrd="1" destOrd="0" presId="urn:microsoft.com/office/officeart/2005/8/layout/vList6"/>
    <dgm:cxn modelId="{B4160B91-9F52-4F7F-BEA1-E9C22118EF10}" type="presParOf" srcId="{292F31F1-2CA5-4AB2-9A8E-F1A772DCB9AD}" destId="{46C90F1E-4725-4B76-89AC-A2F4C0D6D81A}" srcOrd="1" destOrd="0" presId="urn:microsoft.com/office/officeart/2005/8/layout/vList6"/>
    <dgm:cxn modelId="{9A9941C5-961B-4200-9B84-77FAD5D1BCCD}" type="presParOf" srcId="{292F31F1-2CA5-4AB2-9A8E-F1A772DCB9AD}" destId="{3F101CD2-076E-4FF9-A5EE-63955DEF0483}" srcOrd="2" destOrd="0" presId="urn:microsoft.com/office/officeart/2005/8/layout/vList6"/>
    <dgm:cxn modelId="{7D844DE7-6B2C-46E0-9229-45D13C58BB80}" type="presParOf" srcId="{3F101CD2-076E-4FF9-A5EE-63955DEF0483}" destId="{6066F41C-2554-4546-9EFB-86BB1F1533E2}" srcOrd="0" destOrd="0" presId="urn:microsoft.com/office/officeart/2005/8/layout/vList6"/>
    <dgm:cxn modelId="{23F4289A-2FF8-403C-8586-25988B031DDC}" type="presParOf" srcId="{3F101CD2-076E-4FF9-A5EE-63955DEF0483}" destId="{09658EF1-29D8-4061-9F46-B41897E73B4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FF31DC-999F-4F83-B815-4CD74A4A64A8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 phldr="1"/>
      <dgm:spPr/>
    </dgm:pt>
    <dgm:pt modelId="{30107C39-6BC3-4EE8-AC29-71D1A694F2F2}">
      <dgm:prSet phldrT="[Text]"/>
      <dgm:spPr/>
      <dgm:t>
        <a:bodyPr/>
        <a:lstStyle/>
        <a:p>
          <a:r>
            <a:rPr lang="en-US" b="1" dirty="0"/>
            <a:t>Data Preparation</a:t>
          </a:r>
          <a:r>
            <a:rPr lang="en-US" dirty="0"/>
            <a:t>: Raw data, filtered irrelevant rows, grouped data by multiple unique features</a:t>
          </a:r>
        </a:p>
      </dgm:t>
    </dgm:pt>
    <dgm:pt modelId="{F6F96270-C88A-4A3C-B482-CAF4C7BEA21A}" type="parTrans" cxnId="{7B71957F-E1D7-486F-83EF-9BDCF6269162}">
      <dgm:prSet/>
      <dgm:spPr/>
      <dgm:t>
        <a:bodyPr/>
        <a:lstStyle/>
        <a:p>
          <a:endParaRPr lang="en-US"/>
        </a:p>
      </dgm:t>
    </dgm:pt>
    <dgm:pt modelId="{FFD93A53-4FFA-4C6F-AB43-C4AD4453E64E}" type="sibTrans" cxnId="{7B71957F-E1D7-486F-83EF-9BDCF6269162}">
      <dgm:prSet/>
      <dgm:spPr/>
      <dgm:t>
        <a:bodyPr/>
        <a:lstStyle/>
        <a:p>
          <a:endParaRPr lang="en-US"/>
        </a:p>
      </dgm:t>
    </dgm:pt>
    <dgm:pt modelId="{63BF3E41-C3B2-4DE5-A3B2-2926004EF8A9}">
      <dgm:prSet phldrT="[Text]"/>
      <dgm:spPr/>
      <dgm:t>
        <a:bodyPr/>
        <a:lstStyle/>
        <a:p>
          <a:r>
            <a:rPr lang="en-US" b="1" dirty="0"/>
            <a:t>Exploratory Analysis</a:t>
          </a:r>
          <a:r>
            <a:rPr lang="en-US" dirty="0"/>
            <a:t>: Counted no of policies per agent, conducted multiple levels of </a:t>
          </a:r>
          <a:r>
            <a:rPr lang="en-US" dirty="0" err="1"/>
            <a:t>groupby</a:t>
          </a:r>
          <a:endParaRPr lang="en-US" dirty="0"/>
        </a:p>
      </dgm:t>
    </dgm:pt>
    <dgm:pt modelId="{53682A72-B894-4FA2-AAF3-BA289333020E}" type="parTrans" cxnId="{0D2FD559-9494-4650-858F-EBFEB80F4D94}">
      <dgm:prSet/>
      <dgm:spPr/>
      <dgm:t>
        <a:bodyPr/>
        <a:lstStyle/>
        <a:p>
          <a:endParaRPr lang="en-US"/>
        </a:p>
      </dgm:t>
    </dgm:pt>
    <dgm:pt modelId="{452723C2-CDA4-45FD-BD09-47A0050483A8}" type="sibTrans" cxnId="{0D2FD559-9494-4650-858F-EBFEB80F4D94}">
      <dgm:prSet/>
      <dgm:spPr/>
      <dgm:t>
        <a:bodyPr/>
        <a:lstStyle/>
        <a:p>
          <a:endParaRPr lang="en-US"/>
        </a:p>
      </dgm:t>
    </dgm:pt>
    <dgm:pt modelId="{10030A5F-D1EE-46FE-A349-2872B5A0D79E}">
      <dgm:prSet phldrT="[Text]"/>
      <dgm:spPr/>
      <dgm:t>
        <a:bodyPr/>
        <a:lstStyle/>
        <a:p>
          <a:r>
            <a:rPr lang="en-US" b="1" dirty="0"/>
            <a:t>Conceptual Analysis</a:t>
          </a:r>
          <a:r>
            <a:rPr lang="en-US" dirty="0"/>
            <a:t>: KPIs such as Frequency, Severity, Agent’s profit margin, Profitability per Policy, Renewal rate</a:t>
          </a:r>
        </a:p>
      </dgm:t>
    </dgm:pt>
    <dgm:pt modelId="{B4F49E2F-5A56-4C54-8705-8CF18E9ED7F6}" type="parTrans" cxnId="{7E8A1506-7DB3-4988-BE0B-F9FDDA69672B}">
      <dgm:prSet/>
      <dgm:spPr/>
      <dgm:t>
        <a:bodyPr/>
        <a:lstStyle/>
        <a:p>
          <a:endParaRPr lang="en-US"/>
        </a:p>
      </dgm:t>
    </dgm:pt>
    <dgm:pt modelId="{E03E44A6-E1C7-4C11-B51B-87CCA7B09F4C}" type="sibTrans" cxnId="{7E8A1506-7DB3-4988-BE0B-F9FDDA69672B}">
      <dgm:prSet/>
      <dgm:spPr/>
      <dgm:t>
        <a:bodyPr/>
        <a:lstStyle/>
        <a:p>
          <a:endParaRPr lang="en-US"/>
        </a:p>
      </dgm:t>
    </dgm:pt>
    <dgm:pt modelId="{BCBA6ED9-F97C-4ADE-96E4-764994D81768}">
      <dgm:prSet phldrT="[Text]"/>
      <dgm:spPr/>
      <dgm:t>
        <a:bodyPr/>
        <a:lstStyle/>
        <a:p>
          <a:r>
            <a:rPr lang="en-US" b="1" dirty="0"/>
            <a:t>Agent scoring logic </a:t>
          </a:r>
          <a:r>
            <a:rPr lang="en-US" dirty="0"/>
            <a:t>(KPIs normalized)</a:t>
          </a:r>
        </a:p>
      </dgm:t>
    </dgm:pt>
    <dgm:pt modelId="{D7191088-AD3F-4C0C-B022-AD4F3E8E618F}" type="parTrans" cxnId="{3AF09A68-7809-4169-AB0D-02354C80F549}">
      <dgm:prSet/>
      <dgm:spPr/>
      <dgm:t>
        <a:bodyPr/>
        <a:lstStyle/>
        <a:p>
          <a:endParaRPr lang="en-US"/>
        </a:p>
      </dgm:t>
    </dgm:pt>
    <dgm:pt modelId="{8AEFA430-73D9-45EE-9D94-7590D5DFD683}" type="sibTrans" cxnId="{3AF09A68-7809-4169-AB0D-02354C80F549}">
      <dgm:prSet/>
      <dgm:spPr/>
      <dgm:t>
        <a:bodyPr/>
        <a:lstStyle/>
        <a:p>
          <a:endParaRPr lang="en-US"/>
        </a:p>
      </dgm:t>
    </dgm:pt>
    <dgm:pt modelId="{D0530134-8877-45F0-8F88-0DEEAB81A115}" type="pres">
      <dgm:prSet presAssocID="{48FF31DC-999F-4F83-B815-4CD74A4A64A8}" presName="CompostProcess" presStyleCnt="0">
        <dgm:presLayoutVars>
          <dgm:dir/>
          <dgm:resizeHandles val="exact"/>
        </dgm:presLayoutVars>
      </dgm:prSet>
      <dgm:spPr/>
    </dgm:pt>
    <dgm:pt modelId="{98691FA3-4897-406E-888E-B18DED3C39BE}" type="pres">
      <dgm:prSet presAssocID="{48FF31DC-999F-4F83-B815-4CD74A4A64A8}" presName="arrow" presStyleLbl="bgShp" presStyleIdx="0" presStyleCnt="1"/>
      <dgm:spPr/>
    </dgm:pt>
    <dgm:pt modelId="{87336782-343C-4709-84B6-0339314809AE}" type="pres">
      <dgm:prSet presAssocID="{48FF31DC-999F-4F83-B815-4CD74A4A64A8}" presName="linearProcess" presStyleCnt="0"/>
      <dgm:spPr/>
    </dgm:pt>
    <dgm:pt modelId="{DD51F176-A62C-4AFE-9A2A-F0D692C25899}" type="pres">
      <dgm:prSet presAssocID="{30107C39-6BC3-4EE8-AC29-71D1A694F2F2}" presName="textNode" presStyleLbl="node1" presStyleIdx="0" presStyleCnt="4">
        <dgm:presLayoutVars>
          <dgm:bulletEnabled val="1"/>
        </dgm:presLayoutVars>
      </dgm:prSet>
      <dgm:spPr/>
    </dgm:pt>
    <dgm:pt modelId="{E8CABC97-952A-4C4C-A487-C04B79DC0007}" type="pres">
      <dgm:prSet presAssocID="{FFD93A53-4FFA-4C6F-AB43-C4AD4453E64E}" presName="sibTrans" presStyleCnt="0"/>
      <dgm:spPr/>
    </dgm:pt>
    <dgm:pt modelId="{432B6166-1AD6-4655-84DD-646A43707083}" type="pres">
      <dgm:prSet presAssocID="{63BF3E41-C3B2-4DE5-A3B2-2926004EF8A9}" presName="textNode" presStyleLbl="node1" presStyleIdx="1" presStyleCnt="4">
        <dgm:presLayoutVars>
          <dgm:bulletEnabled val="1"/>
        </dgm:presLayoutVars>
      </dgm:prSet>
      <dgm:spPr/>
    </dgm:pt>
    <dgm:pt modelId="{16AB28A6-BDB6-4C26-80DB-8F74D9E4E6E8}" type="pres">
      <dgm:prSet presAssocID="{452723C2-CDA4-45FD-BD09-47A0050483A8}" presName="sibTrans" presStyleCnt="0"/>
      <dgm:spPr/>
    </dgm:pt>
    <dgm:pt modelId="{BD1C8A3E-F111-4BEE-89C8-6D5DF216D04A}" type="pres">
      <dgm:prSet presAssocID="{10030A5F-D1EE-46FE-A349-2872B5A0D79E}" presName="textNode" presStyleLbl="node1" presStyleIdx="2" presStyleCnt="4">
        <dgm:presLayoutVars>
          <dgm:bulletEnabled val="1"/>
        </dgm:presLayoutVars>
      </dgm:prSet>
      <dgm:spPr/>
    </dgm:pt>
    <dgm:pt modelId="{21B7CCBB-6145-4C8D-830D-492EFC452280}" type="pres">
      <dgm:prSet presAssocID="{E03E44A6-E1C7-4C11-B51B-87CCA7B09F4C}" presName="sibTrans" presStyleCnt="0"/>
      <dgm:spPr/>
    </dgm:pt>
    <dgm:pt modelId="{B109DAA7-0231-4880-92E9-1C91A81BC01E}" type="pres">
      <dgm:prSet presAssocID="{BCBA6ED9-F97C-4ADE-96E4-764994D8176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7E8A1506-7DB3-4988-BE0B-F9FDDA69672B}" srcId="{48FF31DC-999F-4F83-B815-4CD74A4A64A8}" destId="{10030A5F-D1EE-46FE-A349-2872B5A0D79E}" srcOrd="2" destOrd="0" parTransId="{B4F49E2F-5A56-4C54-8705-8CF18E9ED7F6}" sibTransId="{E03E44A6-E1C7-4C11-B51B-87CCA7B09F4C}"/>
    <dgm:cxn modelId="{5D25C807-D5C5-4637-9B01-1B8A00B34601}" type="presOf" srcId="{BCBA6ED9-F97C-4ADE-96E4-764994D81768}" destId="{B109DAA7-0231-4880-92E9-1C91A81BC01E}" srcOrd="0" destOrd="0" presId="urn:microsoft.com/office/officeart/2005/8/layout/hProcess9"/>
    <dgm:cxn modelId="{3AF09A68-7809-4169-AB0D-02354C80F549}" srcId="{48FF31DC-999F-4F83-B815-4CD74A4A64A8}" destId="{BCBA6ED9-F97C-4ADE-96E4-764994D81768}" srcOrd="3" destOrd="0" parTransId="{D7191088-AD3F-4C0C-B022-AD4F3E8E618F}" sibTransId="{8AEFA430-73D9-45EE-9D94-7590D5DFD683}"/>
    <dgm:cxn modelId="{1320BB49-89A0-44FD-9E33-742533275C92}" type="presOf" srcId="{30107C39-6BC3-4EE8-AC29-71D1A694F2F2}" destId="{DD51F176-A62C-4AFE-9A2A-F0D692C25899}" srcOrd="0" destOrd="0" presId="urn:microsoft.com/office/officeart/2005/8/layout/hProcess9"/>
    <dgm:cxn modelId="{4F09B350-B382-42DF-B1E1-B429C248D18D}" type="presOf" srcId="{63BF3E41-C3B2-4DE5-A3B2-2926004EF8A9}" destId="{432B6166-1AD6-4655-84DD-646A43707083}" srcOrd="0" destOrd="0" presId="urn:microsoft.com/office/officeart/2005/8/layout/hProcess9"/>
    <dgm:cxn modelId="{F7775674-BB27-4918-A348-30378ED7F941}" type="presOf" srcId="{48FF31DC-999F-4F83-B815-4CD74A4A64A8}" destId="{D0530134-8877-45F0-8F88-0DEEAB81A115}" srcOrd="0" destOrd="0" presId="urn:microsoft.com/office/officeart/2005/8/layout/hProcess9"/>
    <dgm:cxn modelId="{0D2FD559-9494-4650-858F-EBFEB80F4D94}" srcId="{48FF31DC-999F-4F83-B815-4CD74A4A64A8}" destId="{63BF3E41-C3B2-4DE5-A3B2-2926004EF8A9}" srcOrd="1" destOrd="0" parTransId="{53682A72-B894-4FA2-AAF3-BA289333020E}" sibTransId="{452723C2-CDA4-45FD-BD09-47A0050483A8}"/>
    <dgm:cxn modelId="{7B71957F-E1D7-486F-83EF-9BDCF6269162}" srcId="{48FF31DC-999F-4F83-B815-4CD74A4A64A8}" destId="{30107C39-6BC3-4EE8-AC29-71D1A694F2F2}" srcOrd="0" destOrd="0" parTransId="{F6F96270-C88A-4A3C-B482-CAF4C7BEA21A}" sibTransId="{FFD93A53-4FFA-4C6F-AB43-C4AD4453E64E}"/>
    <dgm:cxn modelId="{C99FCEB8-410C-4B41-AB5C-B2C761F59955}" type="presOf" srcId="{10030A5F-D1EE-46FE-A349-2872B5A0D79E}" destId="{BD1C8A3E-F111-4BEE-89C8-6D5DF216D04A}" srcOrd="0" destOrd="0" presId="urn:microsoft.com/office/officeart/2005/8/layout/hProcess9"/>
    <dgm:cxn modelId="{FDB9FCA7-1364-48E1-B7FC-DE0ABD6A8361}" type="presParOf" srcId="{D0530134-8877-45F0-8F88-0DEEAB81A115}" destId="{98691FA3-4897-406E-888E-B18DED3C39BE}" srcOrd="0" destOrd="0" presId="urn:microsoft.com/office/officeart/2005/8/layout/hProcess9"/>
    <dgm:cxn modelId="{0D2086C4-C50E-443C-9934-1031771383DB}" type="presParOf" srcId="{D0530134-8877-45F0-8F88-0DEEAB81A115}" destId="{87336782-343C-4709-84B6-0339314809AE}" srcOrd="1" destOrd="0" presId="urn:microsoft.com/office/officeart/2005/8/layout/hProcess9"/>
    <dgm:cxn modelId="{839A07F9-6A52-4821-A4D4-C907AF8F9FA7}" type="presParOf" srcId="{87336782-343C-4709-84B6-0339314809AE}" destId="{DD51F176-A62C-4AFE-9A2A-F0D692C25899}" srcOrd="0" destOrd="0" presId="urn:microsoft.com/office/officeart/2005/8/layout/hProcess9"/>
    <dgm:cxn modelId="{66F017F7-2DC4-4AA6-861F-D50184402A6D}" type="presParOf" srcId="{87336782-343C-4709-84B6-0339314809AE}" destId="{E8CABC97-952A-4C4C-A487-C04B79DC0007}" srcOrd="1" destOrd="0" presId="urn:microsoft.com/office/officeart/2005/8/layout/hProcess9"/>
    <dgm:cxn modelId="{361A85EC-8DE0-464C-B6A3-DF95BFE4AB2A}" type="presParOf" srcId="{87336782-343C-4709-84B6-0339314809AE}" destId="{432B6166-1AD6-4655-84DD-646A43707083}" srcOrd="2" destOrd="0" presId="urn:microsoft.com/office/officeart/2005/8/layout/hProcess9"/>
    <dgm:cxn modelId="{257A7DF7-F57D-4078-A01A-953A751D21ED}" type="presParOf" srcId="{87336782-343C-4709-84B6-0339314809AE}" destId="{16AB28A6-BDB6-4C26-80DB-8F74D9E4E6E8}" srcOrd="3" destOrd="0" presId="urn:microsoft.com/office/officeart/2005/8/layout/hProcess9"/>
    <dgm:cxn modelId="{ADA5A47A-A597-46AB-9C83-8B2FE522DBA2}" type="presParOf" srcId="{87336782-343C-4709-84B6-0339314809AE}" destId="{BD1C8A3E-F111-4BEE-89C8-6D5DF216D04A}" srcOrd="4" destOrd="0" presId="urn:microsoft.com/office/officeart/2005/8/layout/hProcess9"/>
    <dgm:cxn modelId="{A164B192-8148-4E57-95F8-D9CB3A9D2AB4}" type="presParOf" srcId="{87336782-343C-4709-84B6-0339314809AE}" destId="{21B7CCBB-6145-4C8D-830D-492EFC452280}" srcOrd="5" destOrd="0" presId="urn:microsoft.com/office/officeart/2005/8/layout/hProcess9"/>
    <dgm:cxn modelId="{6CA40FAA-6C04-410D-BEBF-7FD01F575108}" type="presParOf" srcId="{87336782-343C-4709-84B6-0339314809AE}" destId="{B109DAA7-0231-4880-92E9-1C91A81BC01E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710B8D-53DB-4C26-BC73-8EAAB4C419AC}" type="doc">
      <dgm:prSet loTypeId="urn:microsoft.com/office/officeart/2005/8/layout/equation1" loCatId="relationship" qsTypeId="urn:microsoft.com/office/officeart/2005/8/quickstyle/simple1" qsCatId="simple" csTypeId="urn:microsoft.com/office/officeart/2005/8/colors/accent3_1" csCatId="accent3" phldr="1"/>
      <dgm:spPr/>
    </dgm:pt>
    <dgm:pt modelId="{A011EF4A-8A5E-4E13-A9F5-3DC57B39078A}">
      <dgm:prSet phldrT="[Text]" phldr="0"/>
      <dgm:spPr/>
      <dgm:t>
        <a:bodyPr/>
        <a:lstStyle/>
        <a:p>
          <a:pPr rtl="0"/>
          <a:r>
            <a:rPr lang="en-US" dirty="0">
              <a:latin typeface="Calibri"/>
            </a:rPr>
            <a:t> 40% Profitability</a:t>
          </a:r>
          <a:endParaRPr lang="en-US" dirty="0"/>
        </a:p>
      </dgm:t>
    </dgm:pt>
    <dgm:pt modelId="{F2C11E7E-6799-4C02-96B5-0317FCEAB4E0}" type="parTrans" cxnId="{7D35C863-6B8A-4BCD-8AC7-BBF7D8B7D3CA}">
      <dgm:prSet/>
      <dgm:spPr/>
    </dgm:pt>
    <dgm:pt modelId="{6C150F5C-8C6D-4D3E-AD48-684E946E9915}" type="sibTrans" cxnId="{7D35C863-6B8A-4BCD-8AC7-BBF7D8B7D3CA}">
      <dgm:prSet/>
      <dgm:spPr/>
      <dgm:t>
        <a:bodyPr/>
        <a:lstStyle/>
        <a:p>
          <a:endParaRPr lang="en-US"/>
        </a:p>
      </dgm:t>
    </dgm:pt>
    <dgm:pt modelId="{F9E3CEC4-2445-4B21-8904-7A3C2CBDFDB8}">
      <dgm:prSet phldrT="[Text]" phldr="0"/>
      <dgm:spPr/>
      <dgm:t>
        <a:bodyPr/>
        <a:lstStyle/>
        <a:p>
          <a:pPr rtl="0"/>
          <a:r>
            <a:rPr lang="en-US" dirty="0">
              <a:latin typeface="Calibri"/>
            </a:rPr>
            <a:t> 30% Claims</a:t>
          </a:r>
          <a:endParaRPr lang="en-US" dirty="0"/>
        </a:p>
      </dgm:t>
    </dgm:pt>
    <dgm:pt modelId="{6AB1C080-6EF6-4D81-8C0F-FDC4C49E6A87}" type="parTrans" cxnId="{A041DC0D-7F92-44CA-8501-C308B4E585FE}">
      <dgm:prSet/>
      <dgm:spPr/>
    </dgm:pt>
    <dgm:pt modelId="{8985459E-BB21-420A-A627-94D4B926664E}" type="sibTrans" cxnId="{A041DC0D-7F92-44CA-8501-C308B4E585FE}">
      <dgm:prSet/>
      <dgm:spPr/>
      <dgm:t>
        <a:bodyPr/>
        <a:lstStyle/>
        <a:p>
          <a:endParaRPr lang="en-US"/>
        </a:p>
      </dgm:t>
    </dgm:pt>
    <dgm:pt modelId="{0CD57CB6-80B3-4275-9E5B-801C5A8FC6FF}">
      <dgm:prSet phldrT="[Text]" phldr="0"/>
      <dgm:spPr/>
      <dgm:t>
        <a:bodyPr/>
        <a:lstStyle/>
        <a:p>
          <a:pPr rtl="0"/>
          <a:r>
            <a:rPr lang="en-US" dirty="0">
              <a:latin typeface="Calibri"/>
            </a:rPr>
            <a:t> 30% Revenue Growth</a:t>
          </a:r>
          <a:endParaRPr lang="en-US" dirty="0"/>
        </a:p>
      </dgm:t>
    </dgm:pt>
    <dgm:pt modelId="{CEEAA919-824F-44AE-A99E-8E0C308B1EAD}" type="parTrans" cxnId="{CF56E094-20A1-4463-BB16-9A3FB22B76A4}">
      <dgm:prSet/>
      <dgm:spPr/>
    </dgm:pt>
    <dgm:pt modelId="{7DACD780-4AAD-4928-AE2E-5C12EEC066F8}" type="sibTrans" cxnId="{CF56E094-20A1-4463-BB16-9A3FB22B76A4}">
      <dgm:prSet/>
      <dgm:spPr/>
      <dgm:t>
        <a:bodyPr/>
        <a:lstStyle/>
        <a:p>
          <a:endParaRPr lang="en-US"/>
        </a:p>
      </dgm:t>
    </dgm:pt>
    <dgm:pt modelId="{F6979355-BDFE-4520-B567-E7F13A727C3B}">
      <dgm:prSet phldr="0"/>
      <dgm:spPr/>
      <dgm:t>
        <a:bodyPr/>
        <a:lstStyle/>
        <a:p>
          <a:pPr rtl="0"/>
          <a:r>
            <a:rPr lang="en-US" dirty="0">
              <a:latin typeface="Calibri"/>
            </a:rPr>
            <a:t> Final score</a:t>
          </a:r>
        </a:p>
      </dgm:t>
    </dgm:pt>
    <dgm:pt modelId="{21938960-F3CE-4C75-97E9-68977E77A2CC}" type="parTrans" cxnId="{E5A40E20-E2C0-473D-B853-391BE58B4E0E}">
      <dgm:prSet/>
      <dgm:spPr/>
    </dgm:pt>
    <dgm:pt modelId="{9C134BB2-A443-4F57-AB38-9A62317E113C}" type="sibTrans" cxnId="{E5A40E20-E2C0-473D-B853-391BE58B4E0E}">
      <dgm:prSet/>
      <dgm:spPr/>
    </dgm:pt>
    <dgm:pt modelId="{62056636-0C9D-46A5-8F71-B5494BBADA3B}" type="pres">
      <dgm:prSet presAssocID="{39710B8D-53DB-4C26-BC73-8EAAB4C419AC}" presName="linearFlow" presStyleCnt="0">
        <dgm:presLayoutVars>
          <dgm:dir/>
          <dgm:resizeHandles val="exact"/>
        </dgm:presLayoutVars>
      </dgm:prSet>
      <dgm:spPr/>
    </dgm:pt>
    <dgm:pt modelId="{3F8677E2-2EB7-4D40-9B4B-774626689B72}" type="pres">
      <dgm:prSet presAssocID="{A011EF4A-8A5E-4E13-A9F5-3DC57B39078A}" presName="node" presStyleLbl="node1" presStyleIdx="0" presStyleCnt="4">
        <dgm:presLayoutVars>
          <dgm:bulletEnabled val="1"/>
        </dgm:presLayoutVars>
      </dgm:prSet>
      <dgm:spPr/>
    </dgm:pt>
    <dgm:pt modelId="{D34A1290-9941-40A9-A471-5A464638B28F}" type="pres">
      <dgm:prSet presAssocID="{6C150F5C-8C6D-4D3E-AD48-684E946E9915}" presName="spacerL" presStyleCnt="0"/>
      <dgm:spPr/>
    </dgm:pt>
    <dgm:pt modelId="{7D3A7A4A-80E0-4F0F-A1C4-A3498E316E8E}" type="pres">
      <dgm:prSet presAssocID="{6C150F5C-8C6D-4D3E-AD48-684E946E9915}" presName="sibTrans" presStyleLbl="sibTrans2D1" presStyleIdx="0" presStyleCnt="3"/>
      <dgm:spPr/>
    </dgm:pt>
    <dgm:pt modelId="{1044FCBE-3E1B-4BEC-86CB-0DA040D705E9}" type="pres">
      <dgm:prSet presAssocID="{6C150F5C-8C6D-4D3E-AD48-684E946E9915}" presName="spacerR" presStyleCnt="0"/>
      <dgm:spPr/>
    </dgm:pt>
    <dgm:pt modelId="{80933A7E-F143-4826-A00B-A0928D76F709}" type="pres">
      <dgm:prSet presAssocID="{F9E3CEC4-2445-4B21-8904-7A3C2CBDFDB8}" presName="node" presStyleLbl="node1" presStyleIdx="1" presStyleCnt="4">
        <dgm:presLayoutVars>
          <dgm:bulletEnabled val="1"/>
        </dgm:presLayoutVars>
      </dgm:prSet>
      <dgm:spPr/>
    </dgm:pt>
    <dgm:pt modelId="{241B1F67-41ED-4201-9894-3096BBD836CA}" type="pres">
      <dgm:prSet presAssocID="{8985459E-BB21-420A-A627-94D4B926664E}" presName="spacerL" presStyleCnt="0"/>
      <dgm:spPr/>
    </dgm:pt>
    <dgm:pt modelId="{77819786-B67E-40C2-85D3-F2DE6512116D}" type="pres">
      <dgm:prSet presAssocID="{8985459E-BB21-420A-A627-94D4B926664E}" presName="sibTrans" presStyleLbl="sibTrans2D1" presStyleIdx="1" presStyleCnt="3"/>
      <dgm:spPr/>
    </dgm:pt>
    <dgm:pt modelId="{52DFE4F5-44C0-4127-9CB7-D80833AFEF0D}" type="pres">
      <dgm:prSet presAssocID="{8985459E-BB21-420A-A627-94D4B926664E}" presName="spacerR" presStyleCnt="0"/>
      <dgm:spPr/>
    </dgm:pt>
    <dgm:pt modelId="{7ADCEF1D-74DE-4F65-9F5F-AF82D3E65186}" type="pres">
      <dgm:prSet presAssocID="{0CD57CB6-80B3-4275-9E5B-801C5A8FC6FF}" presName="node" presStyleLbl="node1" presStyleIdx="2" presStyleCnt="4">
        <dgm:presLayoutVars>
          <dgm:bulletEnabled val="1"/>
        </dgm:presLayoutVars>
      </dgm:prSet>
      <dgm:spPr/>
    </dgm:pt>
    <dgm:pt modelId="{3455653E-52DB-45CF-9842-984C7F4F71F0}" type="pres">
      <dgm:prSet presAssocID="{7DACD780-4AAD-4928-AE2E-5C12EEC066F8}" presName="spacerL" presStyleCnt="0"/>
      <dgm:spPr/>
    </dgm:pt>
    <dgm:pt modelId="{6DE48B91-122C-497D-B0D3-FF5950ED3486}" type="pres">
      <dgm:prSet presAssocID="{7DACD780-4AAD-4928-AE2E-5C12EEC066F8}" presName="sibTrans" presStyleLbl="sibTrans2D1" presStyleIdx="2" presStyleCnt="3"/>
      <dgm:spPr/>
    </dgm:pt>
    <dgm:pt modelId="{CEE7B1BA-0708-455A-96A6-C5C2D00248F3}" type="pres">
      <dgm:prSet presAssocID="{7DACD780-4AAD-4928-AE2E-5C12EEC066F8}" presName="spacerR" presStyleCnt="0"/>
      <dgm:spPr/>
    </dgm:pt>
    <dgm:pt modelId="{98D183C2-98F3-4C82-917B-87F5315ABF98}" type="pres">
      <dgm:prSet presAssocID="{F6979355-BDFE-4520-B567-E7F13A727C3B}" presName="node" presStyleLbl="node1" presStyleIdx="3" presStyleCnt="4">
        <dgm:presLayoutVars>
          <dgm:bulletEnabled val="1"/>
        </dgm:presLayoutVars>
      </dgm:prSet>
      <dgm:spPr/>
    </dgm:pt>
  </dgm:ptLst>
  <dgm:cxnLst>
    <dgm:cxn modelId="{A041DC0D-7F92-44CA-8501-C308B4E585FE}" srcId="{39710B8D-53DB-4C26-BC73-8EAAB4C419AC}" destId="{F9E3CEC4-2445-4B21-8904-7A3C2CBDFDB8}" srcOrd="1" destOrd="0" parTransId="{6AB1C080-6EF6-4D81-8C0F-FDC4C49E6A87}" sibTransId="{8985459E-BB21-420A-A627-94D4B926664E}"/>
    <dgm:cxn modelId="{E5A40E20-E2C0-473D-B853-391BE58B4E0E}" srcId="{39710B8D-53DB-4C26-BC73-8EAAB4C419AC}" destId="{F6979355-BDFE-4520-B567-E7F13A727C3B}" srcOrd="3" destOrd="0" parTransId="{21938960-F3CE-4C75-97E9-68977E77A2CC}" sibTransId="{9C134BB2-A443-4F57-AB38-9A62317E113C}"/>
    <dgm:cxn modelId="{7B894E5E-31AE-483A-BE31-84ACB3B28D5F}" type="presOf" srcId="{8985459E-BB21-420A-A627-94D4B926664E}" destId="{77819786-B67E-40C2-85D3-F2DE6512116D}" srcOrd="0" destOrd="0" presId="urn:microsoft.com/office/officeart/2005/8/layout/equation1"/>
    <dgm:cxn modelId="{7D35C863-6B8A-4BCD-8AC7-BBF7D8B7D3CA}" srcId="{39710B8D-53DB-4C26-BC73-8EAAB4C419AC}" destId="{A011EF4A-8A5E-4E13-A9F5-3DC57B39078A}" srcOrd="0" destOrd="0" parTransId="{F2C11E7E-6799-4C02-96B5-0317FCEAB4E0}" sibTransId="{6C150F5C-8C6D-4D3E-AD48-684E946E9915}"/>
    <dgm:cxn modelId="{5EE1C565-C21D-423A-8C68-B8E9F9D59053}" type="presOf" srcId="{A011EF4A-8A5E-4E13-A9F5-3DC57B39078A}" destId="{3F8677E2-2EB7-4D40-9B4B-774626689B72}" srcOrd="0" destOrd="0" presId="urn:microsoft.com/office/officeart/2005/8/layout/equation1"/>
    <dgm:cxn modelId="{A3502C74-234A-4CA7-99B7-E9F9E3BC3302}" type="presOf" srcId="{6C150F5C-8C6D-4D3E-AD48-684E946E9915}" destId="{7D3A7A4A-80E0-4F0F-A1C4-A3498E316E8E}" srcOrd="0" destOrd="0" presId="urn:microsoft.com/office/officeart/2005/8/layout/equation1"/>
    <dgm:cxn modelId="{CF56E094-20A1-4463-BB16-9A3FB22B76A4}" srcId="{39710B8D-53DB-4C26-BC73-8EAAB4C419AC}" destId="{0CD57CB6-80B3-4275-9E5B-801C5A8FC6FF}" srcOrd="2" destOrd="0" parTransId="{CEEAA919-824F-44AE-A99E-8E0C308B1EAD}" sibTransId="{7DACD780-4AAD-4928-AE2E-5C12EEC066F8}"/>
    <dgm:cxn modelId="{C89EE59B-CDBB-4E62-AD20-E1513FFC487B}" type="presOf" srcId="{F9E3CEC4-2445-4B21-8904-7A3C2CBDFDB8}" destId="{80933A7E-F143-4826-A00B-A0928D76F709}" srcOrd="0" destOrd="0" presId="urn:microsoft.com/office/officeart/2005/8/layout/equation1"/>
    <dgm:cxn modelId="{41EA2CA8-9C8C-4059-9105-7851C99ED86A}" type="presOf" srcId="{39710B8D-53DB-4C26-BC73-8EAAB4C419AC}" destId="{62056636-0C9D-46A5-8F71-B5494BBADA3B}" srcOrd="0" destOrd="0" presId="urn:microsoft.com/office/officeart/2005/8/layout/equation1"/>
    <dgm:cxn modelId="{79ED13A9-1FFB-4E4C-97AA-59F399C7D7CF}" type="presOf" srcId="{F6979355-BDFE-4520-B567-E7F13A727C3B}" destId="{98D183C2-98F3-4C82-917B-87F5315ABF98}" srcOrd="0" destOrd="0" presId="urn:microsoft.com/office/officeart/2005/8/layout/equation1"/>
    <dgm:cxn modelId="{5DCD62AB-4326-4509-B019-94AB84880AE5}" type="presOf" srcId="{7DACD780-4AAD-4928-AE2E-5C12EEC066F8}" destId="{6DE48B91-122C-497D-B0D3-FF5950ED3486}" srcOrd="0" destOrd="0" presId="urn:microsoft.com/office/officeart/2005/8/layout/equation1"/>
    <dgm:cxn modelId="{13BDA7D5-B5D9-49A6-8D66-DD850A5E2477}" type="presOf" srcId="{0CD57CB6-80B3-4275-9E5B-801C5A8FC6FF}" destId="{7ADCEF1D-74DE-4F65-9F5F-AF82D3E65186}" srcOrd="0" destOrd="0" presId="urn:microsoft.com/office/officeart/2005/8/layout/equation1"/>
    <dgm:cxn modelId="{E22FDB04-0AD4-402B-BFA9-7E4A625F3BA3}" type="presParOf" srcId="{62056636-0C9D-46A5-8F71-B5494BBADA3B}" destId="{3F8677E2-2EB7-4D40-9B4B-774626689B72}" srcOrd="0" destOrd="0" presId="urn:microsoft.com/office/officeart/2005/8/layout/equation1"/>
    <dgm:cxn modelId="{452AE05B-7A64-4D35-A540-0CF51ECC73D0}" type="presParOf" srcId="{62056636-0C9D-46A5-8F71-B5494BBADA3B}" destId="{D34A1290-9941-40A9-A471-5A464638B28F}" srcOrd="1" destOrd="0" presId="urn:microsoft.com/office/officeart/2005/8/layout/equation1"/>
    <dgm:cxn modelId="{6CD4B7C3-5CA2-42C8-BA39-7B0A2A850ED9}" type="presParOf" srcId="{62056636-0C9D-46A5-8F71-B5494BBADA3B}" destId="{7D3A7A4A-80E0-4F0F-A1C4-A3498E316E8E}" srcOrd="2" destOrd="0" presId="urn:microsoft.com/office/officeart/2005/8/layout/equation1"/>
    <dgm:cxn modelId="{4A85890E-36FF-4BC8-88DB-16C6806A2AB8}" type="presParOf" srcId="{62056636-0C9D-46A5-8F71-B5494BBADA3B}" destId="{1044FCBE-3E1B-4BEC-86CB-0DA040D705E9}" srcOrd="3" destOrd="0" presId="urn:microsoft.com/office/officeart/2005/8/layout/equation1"/>
    <dgm:cxn modelId="{E827C603-9804-49F1-883F-3152FFB71E60}" type="presParOf" srcId="{62056636-0C9D-46A5-8F71-B5494BBADA3B}" destId="{80933A7E-F143-4826-A00B-A0928D76F709}" srcOrd="4" destOrd="0" presId="urn:microsoft.com/office/officeart/2005/8/layout/equation1"/>
    <dgm:cxn modelId="{0C9E8B2A-F9D3-4B26-BA5C-D5EDBAE29B30}" type="presParOf" srcId="{62056636-0C9D-46A5-8F71-B5494BBADA3B}" destId="{241B1F67-41ED-4201-9894-3096BBD836CA}" srcOrd="5" destOrd="0" presId="urn:microsoft.com/office/officeart/2005/8/layout/equation1"/>
    <dgm:cxn modelId="{3D169468-3B2E-4F26-91A4-087E70569ACF}" type="presParOf" srcId="{62056636-0C9D-46A5-8F71-B5494BBADA3B}" destId="{77819786-B67E-40C2-85D3-F2DE6512116D}" srcOrd="6" destOrd="0" presId="urn:microsoft.com/office/officeart/2005/8/layout/equation1"/>
    <dgm:cxn modelId="{9240C18B-F86E-4800-8CFF-B1825AF23C9E}" type="presParOf" srcId="{62056636-0C9D-46A5-8F71-B5494BBADA3B}" destId="{52DFE4F5-44C0-4127-9CB7-D80833AFEF0D}" srcOrd="7" destOrd="0" presId="urn:microsoft.com/office/officeart/2005/8/layout/equation1"/>
    <dgm:cxn modelId="{9041B0D1-C298-46B0-8C00-FE78DA3E0B27}" type="presParOf" srcId="{62056636-0C9D-46A5-8F71-B5494BBADA3B}" destId="{7ADCEF1D-74DE-4F65-9F5F-AF82D3E65186}" srcOrd="8" destOrd="0" presId="urn:microsoft.com/office/officeart/2005/8/layout/equation1"/>
    <dgm:cxn modelId="{D59EA8D9-16F3-4564-8E1E-9F10568EAA53}" type="presParOf" srcId="{62056636-0C9D-46A5-8F71-B5494BBADA3B}" destId="{3455653E-52DB-45CF-9842-984C7F4F71F0}" srcOrd="9" destOrd="0" presId="urn:microsoft.com/office/officeart/2005/8/layout/equation1"/>
    <dgm:cxn modelId="{37E16D21-D4B1-4383-A0F3-B88B8DF3B783}" type="presParOf" srcId="{62056636-0C9D-46A5-8F71-B5494BBADA3B}" destId="{6DE48B91-122C-497D-B0D3-FF5950ED3486}" srcOrd="10" destOrd="0" presId="urn:microsoft.com/office/officeart/2005/8/layout/equation1"/>
    <dgm:cxn modelId="{B46202C8-10B9-499B-B422-5A09DFAA0449}" type="presParOf" srcId="{62056636-0C9D-46A5-8F71-B5494BBADA3B}" destId="{CEE7B1BA-0708-455A-96A6-C5C2D00248F3}" srcOrd="11" destOrd="0" presId="urn:microsoft.com/office/officeart/2005/8/layout/equation1"/>
    <dgm:cxn modelId="{A38BEB02-3B8E-4EB8-8402-589908425CED}" type="presParOf" srcId="{62056636-0C9D-46A5-8F71-B5494BBADA3B}" destId="{98D183C2-98F3-4C82-917B-87F5315ABF98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74C24-7636-424F-AB02-7B02BA996138}">
      <dsp:nvSpPr>
        <dsp:cNvPr id="0" name=""/>
        <dsp:cNvSpPr/>
      </dsp:nvSpPr>
      <dsp:spPr>
        <a:xfrm>
          <a:off x="0" y="640291"/>
          <a:ext cx="2349500" cy="14097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Parent Company</a:t>
          </a:r>
          <a:r>
            <a:rPr lang="en-US" sz="1600" kern="1200" dirty="0"/>
            <a:t>: Fairfax Financial Holdings, founded in 1985 by Prem Watsa</a:t>
          </a:r>
        </a:p>
      </dsp:txBody>
      <dsp:txXfrm>
        <a:off x="0" y="640291"/>
        <a:ext cx="2349500" cy="1409700"/>
      </dsp:txXfrm>
    </dsp:sp>
    <dsp:sp modelId="{4C6DF8AF-E3AE-4610-80FC-57C3E11FC9FD}">
      <dsp:nvSpPr>
        <dsp:cNvPr id="0" name=""/>
        <dsp:cNvSpPr/>
      </dsp:nvSpPr>
      <dsp:spPr>
        <a:xfrm>
          <a:off x="2584450" y="640291"/>
          <a:ext cx="2349500" cy="14097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Presence</a:t>
          </a:r>
          <a:r>
            <a:rPr lang="en-US" sz="1600" kern="1200" dirty="0"/>
            <a:t>: Operates in multiple Asian countries including Malaysia, Sri Lanka, Indonesia &amp; Thailand</a:t>
          </a:r>
        </a:p>
      </dsp:txBody>
      <dsp:txXfrm>
        <a:off x="2584450" y="640291"/>
        <a:ext cx="2349500" cy="1409700"/>
      </dsp:txXfrm>
    </dsp:sp>
    <dsp:sp modelId="{1515D8CC-C423-41FF-B617-994D1FDC901A}">
      <dsp:nvSpPr>
        <dsp:cNvPr id="0" name=""/>
        <dsp:cNvSpPr/>
      </dsp:nvSpPr>
      <dsp:spPr>
        <a:xfrm>
          <a:off x="5168900" y="640291"/>
          <a:ext cx="2349500" cy="14097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Business focus</a:t>
          </a:r>
          <a:r>
            <a:rPr lang="en-US" sz="1600" kern="1200" dirty="0"/>
            <a:t>: Offers property, health, and motor insurance products with a strong focus on data and innovation</a:t>
          </a:r>
        </a:p>
      </dsp:txBody>
      <dsp:txXfrm>
        <a:off x="5168900" y="640291"/>
        <a:ext cx="2349500" cy="1409700"/>
      </dsp:txXfrm>
    </dsp:sp>
    <dsp:sp modelId="{36516F02-19FB-46BE-80D2-054C0B74DFE7}">
      <dsp:nvSpPr>
        <dsp:cNvPr id="0" name=""/>
        <dsp:cNvSpPr/>
      </dsp:nvSpPr>
      <dsp:spPr>
        <a:xfrm>
          <a:off x="1292224" y="2284941"/>
          <a:ext cx="2349500" cy="14097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Mission</a:t>
          </a:r>
          <a:r>
            <a:rPr lang="en-US" sz="1600" kern="1200" dirty="0"/>
            <a:t>: To create an intelligent ecosystem for insurance operations using data, business insights and technology</a:t>
          </a:r>
        </a:p>
      </dsp:txBody>
      <dsp:txXfrm>
        <a:off x="1292224" y="2284941"/>
        <a:ext cx="2349500" cy="1409700"/>
      </dsp:txXfrm>
    </dsp:sp>
    <dsp:sp modelId="{97B51E9D-A399-4840-B3E3-AF224D30B5F7}">
      <dsp:nvSpPr>
        <dsp:cNvPr id="0" name=""/>
        <dsp:cNvSpPr/>
      </dsp:nvSpPr>
      <dsp:spPr>
        <a:xfrm>
          <a:off x="3876674" y="2284941"/>
          <a:ext cx="2349500" cy="14097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Core Values</a:t>
          </a:r>
          <a:r>
            <a:rPr lang="en-US" sz="1600" kern="1200" dirty="0"/>
            <a:t>: Operates on principles of fair acquisition, customer-centric solutions and ethical conduct</a:t>
          </a:r>
        </a:p>
      </dsp:txBody>
      <dsp:txXfrm>
        <a:off x="3876674" y="2284941"/>
        <a:ext cx="2349500" cy="1409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15D9D-9C65-4B49-A323-D81EC2C0E21C}">
      <dsp:nvSpPr>
        <dsp:cNvPr id="0" name=""/>
        <dsp:cNvSpPr/>
      </dsp:nvSpPr>
      <dsp:spPr>
        <a:xfrm rot="5400000">
          <a:off x="3758172" y="110792"/>
          <a:ext cx="1649008" cy="143463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Thane, India – within Data Analytics Office</a:t>
          </a:r>
        </a:p>
      </dsp:txBody>
      <dsp:txXfrm rot="-5400000">
        <a:off x="4088921" y="260577"/>
        <a:ext cx="987509" cy="1135068"/>
      </dsp:txXfrm>
    </dsp:sp>
    <dsp:sp modelId="{51CD1448-9A80-4B25-B805-8AB2C911235E}">
      <dsp:nvSpPr>
        <dsp:cNvPr id="0" name=""/>
        <dsp:cNvSpPr/>
      </dsp:nvSpPr>
      <dsp:spPr>
        <a:xfrm>
          <a:off x="5343528" y="333408"/>
          <a:ext cx="1840293" cy="989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Location</a:t>
          </a:r>
          <a:endParaRPr lang="en-US" sz="1000" b="1" kern="1200" dirty="0"/>
        </a:p>
      </dsp:txBody>
      <dsp:txXfrm>
        <a:off x="5343528" y="333408"/>
        <a:ext cx="1840293" cy="989405"/>
      </dsp:txXfrm>
    </dsp:sp>
    <dsp:sp modelId="{24CD7AA8-FBD3-4662-B390-26DF9FFD4048}">
      <dsp:nvSpPr>
        <dsp:cNvPr id="0" name=""/>
        <dsp:cNvSpPr/>
      </dsp:nvSpPr>
      <dsp:spPr>
        <a:xfrm rot="5400000">
          <a:off x="2635727" y="400754"/>
          <a:ext cx="1067403" cy="108326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08340" y="586587"/>
        <a:ext cx="722178" cy="711602"/>
      </dsp:txXfrm>
    </dsp:sp>
    <dsp:sp modelId="{E90ABBDE-185E-4068-95D8-61033AED9A14}">
      <dsp:nvSpPr>
        <dsp:cNvPr id="0" name=""/>
        <dsp:cNvSpPr/>
      </dsp:nvSpPr>
      <dsp:spPr>
        <a:xfrm rot="5400000">
          <a:off x="2704392" y="1510245"/>
          <a:ext cx="1868128" cy="167363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Gained Practical exposure in data engineering, data analysis and </a:t>
          </a:r>
          <a:r>
            <a:rPr lang="en-US" sz="1400" kern="1200" dirty="0"/>
            <a:t>predictive</a:t>
          </a:r>
          <a:r>
            <a:rPr lang="en-US" sz="1200" kern="1200" dirty="0"/>
            <a:t> modelling techniques</a:t>
          </a:r>
        </a:p>
      </dsp:txBody>
      <dsp:txXfrm rot="-5400000">
        <a:off x="3066057" y="1708145"/>
        <a:ext cx="1144797" cy="1277834"/>
      </dsp:txXfrm>
    </dsp:sp>
    <dsp:sp modelId="{0BE7DB9C-348A-4035-A3A9-6C797AB84630}">
      <dsp:nvSpPr>
        <dsp:cNvPr id="0" name=""/>
        <dsp:cNvSpPr/>
      </dsp:nvSpPr>
      <dsp:spPr>
        <a:xfrm>
          <a:off x="1015033" y="1701132"/>
          <a:ext cx="1780929" cy="989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Focus Areas</a:t>
          </a:r>
        </a:p>
      </dsp:txBody>
      <dsp:txXfrm>
        <a:off x="1015033" y="1701132"/>
        <a:ext cx="1780929" cy="989405"/>
      </dsp:txXfrm>
    </dsp:sp>
    <dsp:sp modelId="{E90815B5-03A3-44AB-B862-15A0DAAA9BB2}">
      <dsp:nvSpPr>
        <dsp:cNvPr id="0" name=""/>
        <dsp:cNvSpPr/>
      </dsp:nvSpPr>
      <dsp:spPr>
        <a:xfrm rot="5400000">
          <a:off x="4588939" y="1798599"/>
          <a:ext cx="966846" cy="96569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750367" y="1959070"/>
        <a:ext cx="643989" cy="644756"/>
      </dsp:txXfrm>
    </dsp:sp>
    <dsp:sp modelId="{57D56299-5FFB-456E-B76E-8C2C023AAD45}">
      <dsp:nvSpPr>
        <dsp:cNvPr id="0" name=""/>
        <dsp:cNvSpPr/>
      </dsp:nvSpPr>
      <dsp:spPr>
        <a:xfrm rot="5400000">
          <a:off x="3684110" y="3162092"/>
          <a:ext cx="1901257" cy="162124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Worked on large-scale insurance datasets, building data-driven solutions</a:t>
          </a:r>
        </a:p>
      </dsp:txBody>
      <dsp:txXfrm rot="-5400000">
        <a:off x="4074427" y="3315625"/>
        <a:ext cx="1120622" cy="1314175"/>
      </dsp:txXfrm>
    </dsp:sp>
    <dsp:sp modelId="{FA9A420D-D667-41E4-9919-06A68A3570CC}">
      <dsp:nvSpPr>
        <dsp:cNvPr id="0" name=""/>
        <dsp:cNvSpPr/>
      </dsp:nvSpPr>
      <dsp:spPr>
        <a:xfrm>
          <a:off x="5514124" y="3478009"/>
          <a:ext cx="1840293" cy="989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Scope</a:t>
          </a:r>
        </a:p>
      </dsp:txBody>
      <dsp:txXfrm>
        <a:off x="5514124" y="3478009"/>
        <a:ext cx="1840293" cy="989405"/>
      </dsp:txXfrm>
    </dsp:sp>
    <dsp:sp modelId="{11C9843E-CEF5-495E-87A7-BF3792E1B7A2}">
      <dsp:nvSpPr>
        <dsp:cNvPr id="0" name=""/>
        <dsp:cNvSpPr/>
      </dsp:nvSpPr>
      <dsp:spPr>
        <a:xfrm rot="5400000">
          <a:off x="2673836" y="3499153"/>
          <a:ext cx="1127361" cy="94711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909191" y="3581905"/>
        <a:ext cx="656650" cy="781615"/>
      </dsp:txXfrm>
    </dsp:sp>
    <dsp:sp modelId="{DC3C5D82-D195-4663-8665-F2BA6A1B1FC3}">
      <dsp:nvSpPr>
        <dsp:cNvPr id="0" name=""/>
        <dsp:cNvSpPr/>
      </dsp:nvSpPr>
      <dsp:spPr>
        <a:xfrm rot="5400000">
          <a:off x="2638617" y="4626199"/>
          <a:ext cx="1875582" cy="197120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Applied theoretical knowledge of Machine Learning and Data Science in real-world insurance-based use cases.</a:t>
          </a:r>
        </a:p>
      </dsp:txBody>
      <dsp:txXfrm rot="-5400000">
        <a:off x="2919339" y="4986608"/>
        <a:ext cx="1314138" cy="1250388"/>
      </dsp:txXfrm>
    </dsp:sp>
    <dsp:sp modelId="{F69C12B9-4F44-4901-B0A9-5C168D353B50}">
      <dsp:nvSpPr>
        <dsp:cNvPr id="0" name=""/>
        <dsp:cNvSpPr/>
      </dsp:nvSpPr>
      <dsp:spPr>
        <a:xfrm>
          <a:off x="685793" y="5117099"/>
          <a:ext cx="1780929" cy="989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Learning Outcomes</a:t>
          </a:r>
        </a:p>
      </dsp:txBody>
      <dsp:txXfrm>
        <a:off x="685793" y="5117099"/>
        <a:ext cx="1780929" cy="989405"/>
      </dsp:txXfrm>
    </dsp:sp>
    <dsp:sp modelId="{71CC327C-A99A-4D2A-8CC3-418CB467E239}">
      <dsp:nvSpPr>
        <dsp:cNvPr id="0" name=""/>
        <dsp:cNvSpPr/>
      </dsp:nvSpPr>
      <dsp:spPr>
        <a:xfrm rot="5400000">
          <a:off x="4560702" y="5116307"/>
          <a:ext cx="1165205" cy="99099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800627" y="5208883"/>
        <a:ext cx="685354" cy="8058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58F21-5DBA-4AA7-ABD3-C9E2DAFDECD5}">
      <dsp:nvSpPr>
        <dsp:cNvPr id="0" name=""/>
        <dsp:cNvSpPr/>
      </dsp:nvSpPr>
      <dsp:spPr>
        <a:xfrm>
          <a:off x="1554822" y="348774"/>
          <a:ext cx="3904488" cy="3667719"/>
        </a:xfrm>
        <a:prstGeom prst="pie">
          <a:avLst>
            <a:gd name="adj1" fmla="val 1620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Data Analysis &amp; Management</a:t>
          </a:r>
          <a:r>
            <a:rPr lang="en-US" sz="1600" kern="1200" dirty="0"/>
            <a:t>: Utilized Python</a:t>
          </a:r>
        </a:p>
      </dsp:txBody>
      <dsp:txXfrm>
        <a:off x="3551688" y="1027303"/>
        <a:ext cx="1440942" cy="1091583"/>
      </dsp:txXfrm>
    </dsp:sp>
    <dsp:sp modelId="{96E67AC5-466C-4C81-AE6D-4CA66348D66D}">
      <dsp:nvSpPr>
        <dsp:cNvPr id="0" name=""/>
        <dsp:cNvSpPr/>
      </dsp:nvSpPr>
      <dsp:spPr>
        <a:xfrm>
          <a:off x="1390275" y="394937"/>
          <a:ext cx="3904488" cy="3904488"/>
        </a:xfrm>
        <a:prstGeom prst="pie">
          <a:avLst>
            <a:gd name="adj1" fmla="val 0"/>
            <a:gd name="adj2" fmla="val 54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Model Development</a:t>
          </a:r>
          <a:r>
            <a:rPr lang="en-US" sz="1600" kern="1200" dirty="0"/>
            <a:t>: </a:t>
          </a:r>
          <a:r>
            <a:rPr lang="en-US" sz="1600" kern="1200" dirty="0" err="1"/>
            <a:t>Classifcation</a:t>
          </a:r>
          <a:r>
            <a:rPr lang="en-US" sz="1600" kern="1200" dirty="0"/>
            <a:t> &amp; Regression</a:t>
          </a:r>
        </a:p>
      </dsp:txBody>
      <dsp:txXfrm>
        <a:off x="3412242" y="2416904"/>
        <a:ext cx="1440942" cy="1162050"/>
      </dsp:txXfrm>
    </dsp:sp>
    <dsp:sp modelId="{14110651-CD5E-45D6-887B-1BB7108F5F1A}">
      <dsp:nvSpPr>
        <dsp:cNvPr id="0" name=""/>
        <dsp:cNvSpPr/>
      </dsp:nvSpPr>
      <dsp:spPr>
        <a:xfrm>
          <a:off x="1390275" y="394937"/>
          <a:ext cx="3904488" cy="3904488"/>
        </a:xfrm>
        <a:prstGeom prst="pie">
          <a:avLst>
            <a:gd name="adj1" fmla="val 5400000"/>
            <a:gd name="adj2" fmla="val 108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Client Collaboration</a:t>
          </a:r>
          <a:r>
            <a:rPr lang="en-US" sz="1600" kern="1200" dirty="0"/>
            <a:t>: Supported  cross-functional teams </a:t>
          </a:r>
        </a:p>
      </dsp:txBody>
      <dsp:txXfrm>
        <a:off x="1831854" y="2416904"/>
        <a:ext cx="1440942" cy="1162050"/>
      </dsp:txXfrm>
    </dsp:sp>
    <dsp:sp modelId="{5BB01F4E-6F3D-4496-BF4F-1E9B44FC1249}">
      <dsp:nvSpPr>
        <dsp:cNvPr id="0" name=""/>
        <dsp:cNvSpPr/>
      </dsp:nvSpPr>
      <dsp:spPr>
        <a:xfrm>
          <a:off x="1390275" y="394937"/>
          <a:ext cx="3904488" cy="3904488"/>
        </a:xfrm>
        <a:prstGeom prst="pie">
          <a:avLst>
            <a:gd name="adj1" fmla="val 108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Insight Communication</a:t>
          </a:r>
          <a:r>
            <a:rPr lang="en-US" sz="1600" kern="1200" dirty="0"/>
            <a:t>: Interpreted &amp; presented model outputs</a:t>
          </a:r>
        </a:p>
      </dsp:txBody>
      <dsp:txXfrm>
        <a:off x="1831854" y="1115408"/>
        <a:ext cx="1440942" cy="1162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0EE60-64EF-4131-A4DF-D1E52CB4DECF}">
      <dsp:nvSpPr>
        <dsp:cNvPr id="0" name=""/>
        <dsp:cNvSpPr/>
      </dsp:nvSpPr>
      <dsp:spPr>
        <a:xfrm>
          <a:off x="3384105" y="1966"/>
          <a:ext cx="5069964" cy="1951658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Objective</a:t>
          </a:r>
          <a:r>
            <a:rPr lang="en-US" sz="1600" kern="1200" dirty="0"/>
            <a:t>: forecast accurate premium amounts of motor insurance policies based on historical data and relevant features.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Impact</a:t>
          </a:r>
          <a:r>
            <a:rPr lang="en-US" sz="1600" kern="1200" dirty="0"/>
            <a:t>: aimed to assist underwriters in improving pricing precision, thus improving profitability and reducing risk.</a:t>
          </a:r>
        </a:p>
      </dsp:txBody>
      <dsp:txXfrm>
        <a:off x="3384105" y="245923"/>
        <a:ext cx="4338092" cy="1463744"/>
      </dsp:txXfrm>
    </dsp:sp>
    <dsp:sp modelId="{2503685D-AEF6-4C5A-89C6-F9AF148C9044}">
      <dsp:nvSpPr>
        <dsp:cNvPr id="0" name=""/>
        <dsp:cNvSpPr/>
      </dsp:nvSpPr>
      <dsp:spPr>
        <a:xfrm>
          <a:off x="4129" y="63395"/>
          <a:ext cx="3379976" cy="1828799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Premium Pricing Prediction Analysis</a:t>
          </a:r>
        </a:p>
      </dsp:txBody>
      <dsp:txXfrm>
        <a:off x="93404" y="152670"/>
        <a:ext cx="3201426" cy="1650249"/>
      </dsp:txXfrm>
    </dsp:sp>
    <dsp:sp modelId="{09658EF1-29D8-4061-9F46-B41897E73B44}">
      <dsp:nvSpPr>
        <dsp:cNvPr id="0" name=""/>
        <dsp:cNvSpPr/>
      </dsp:nvSpPr>
      <dsp:spPr>
        <a:xfrm>
          <a:off x="3384105" y="2136504"/>
          <a:ext cx="5069964" cy="2196461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Objective</a:t>
          </a:r>
          <a:r>
            <a:rPr lang="en-US" sz="1600" kern="1200" dirty="0"/>
            <a:t>: evaluate the performance of insurance agents using key business metrics such as policy count, frequency and profitability.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Outcome</a:t>
          </a:r>
          <a:r>
            <a:rPr lang="en-US" sz="1600" kern="1200" dirty="0"/>
            <a:t>: provide actionable insights for business teams to improve performance of underperforming agents and recognize top performers.</a:t>
          </a:r>
        </a:p>
      </dsp:txBody>
      <dsp:txXfrm>
        <a:off x="3384105" y="2411062"/>
        <a:ext cx="4246291" cy="1647345"/>
      </dsp:txXfrm>
    </dsp:sp>
    <dsp:sp modelId="{6066F41C-2554-4546-9EFB-86BB1F1533E2}">
      <dsp:nvSpPr>
        <dsp:cNvPr id="0" name=""/>
        <dsp:cNvSpPr/>
      </dsp:nvSpPr>
      <dsp:spPr>
        <a:xfrm>
          <a:off x="4129" y="2320335"/>
          <a:ext cx="3379976" cy="1828799"/>
        </a:xfrm>
        <a:prstGeom prst="round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Agent Scorecard</a:t>
          </a:r>
        </a:p>
      </dsp:txBody>
      <dsp:txXfrm>
        <a:off x="93404" y="2409610"/>
        <a:ext cx="3201426" cy="1650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91FA3-4897-406E-888E-B18DED3C39BE}">
      <dsp:nvSpPr>
        <dsp:cNvPr id="0" name=""/>
        <dsp:cNvSpPr/>
      </dsp:nvSpPr>
      <dsp:spPr>
        <a:xfrm>
          <a:off x="537341" y="0"/>
          <a:ext cx="6089869" cy="4724399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1F176-A62C-4AFE-9A2A-F0D692C25899}">
      <dsp:nvSpPr>
        <dsp:cNvPr id="0" name=""/>
        <dsp:cNvSpPr/>
      </dsp:nvSpPr>
      <dsp:spPr>
        <a:xfrm>
          <a:off x="3585" y="1417319"/>
          <a:ext cx="1724669" cy="1889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Data Preparation</a:t>
          </a:r>
          <a:r>
            <a:rPr lang="en-US" sz="1400" kern="1200" dirty="0"/>
            <a:t>: Raw data, filtered irrelevant rows, grouped data by multiple unique features</a:t>
          </a:r>
        </a:p>
      </dsp:txBody>
      <dsp:txXfrm>
        <a:off x="87776" y="1501510"/>
        <a:ext cx="1556287" cy="1721378"/>
      </dsp:txXfrm>
    </dsp:sp>
    <dsp:sp modelId="{432B6166-1AD6-4655-84DD-646A43707083}">
      <dsp:nvSpPr>
        <dsp:cNvPr id="0" name=""/>
        <dsp:cNvSpPr/>
      </dsp:nvSpPr>
      <dsp:spPr>
        <a:xfrm>
          <a:off x="1814489" y="1417319"/>
          <a:ext cx="1724669" cy="1889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Exploratory Analysis</a:t>
          </a:r>
          <a:r>
            <a:rPr lang="en-US" sz="1400" kern="1200" dirty="0"/>
            <a:t>: Counted no of policies per agent, conducted multiple levels of </a:t>
          </a:r>
          <a:r>
            <a:rPr lang="en-US" sz="1400" kern="1200" dirty="0" err="1"/>
            <a:t>groupby</a:t>
          </a:r>
          <a:endParaRPr lang="en-US" sz="1400" kern="1200" dirty="0"/>
        </a:p>
      </dsp:txBody>
      <dsp:txXfrm>
        <a:off x="1898680" y="1501510"/>
        <a:ext cx="1556287" cy="1721378"/>
      </dsp:txXfrm>
    </dsp:sp>
    <dsp:sp modelId="{BD1C8A3E-F111-4BEE-89C8-6D5DF216D04A}">
      <dsp:nvSpPr>
        <dsp:cNvPr id="0" name=""/>
        <dsp:cNvSpPr/>
      </dsp:nvSpPr>
      <dsp:spPr>
        <a:xfrm>
          <a:off x="3625392" y="1417319"/>
          <a:ext cx="1724669" cy="1889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Conceptual Analysis</a:t>
          </a:r>
          <a:r>
            <a:rPr lang="en-US" sz="1400" kern="1200" dirty="0"/>
            <a:t>: KPIs such as Frequency, Severity, Agent’s profit margin, Profitability per Policy, Renewal rate</a:t>
          </a:r>
        </a:p>
      </dsp:txBody>
      <dsp:txXfrm>
        <a:off x="3709583" y="1501510"/>
        <a:ext cx="1556287" cy="1721378"/>
      </dsp:txXfrm>
    </dsp:sp>
    <dsp:sp modelId="{B109DAA7-0231-4880-92E9-1C91A81BC01E}">
      <dsp:nvSpPr>
        <dsp:cNvPr id="0" name=""/>
        <dsp:cNvSpPr/>
      </dsp:nvSpPr>
      <dsp:spPr>
        <a:xfrm>
          <a:off x="5436296" y="1417319"/>
          <a:ext cx="1724669" cy="1889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Agent scoring logic </a:t>
          </a:r>
          <a:r>
            <a:rPr lang="en-US" sz="1400" kern="1200" dirty="0"/>
            <a:t>(KPIs normalized)</a:t>
          </a:r>
        </a:p>
      </dsp:txBody>
      <dsp:txXfrm>
        <a:off x="5520487" y="1501510"/>
        <a:ext cx="1556287" cy="17213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677E2-2EB7-4D40-9B4B-774626689B72}">
      <dsp:nvSpPr>
        <dsp:cNvPr id="0" name=""/>
        <dsp:cNvSpPr/>
      </dsp:nvSpPr>
      <dsp:spPr>
        <a:xfrm>
          <a:off x="5008" y="2513556"/>
          <a:ext cx="1391425" cy="13914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"/>
            </a:rPr>
            <a:t> 40% Profitability</a:t>
          </a:r>
          <a:endParaRPr lang="en-US" sz="1500" kern="1200" dirty="0"/>
        </a:p>
      </dsp:txBody>
      <dsp:txXfrm>
        <a:off x="208777" y="2717325"/>
        <a:ext cx="983887" cy="983887"/>
      </dsp:txXfrm>
    </dsp:sp>
    <dsp:sp modelId="{7D3A7A4A-80E0-4F0F-A1C4-A3498E316E8E}">
      <dsp:nvSpPr>
        <dsp:cNvPr id="0" name=""/>
        <dsp:cNvSpPr/>
      </dsp:nvSpPr>
      <dsp:spPr>
        <a:xfrm>
          <a:off x="1509417" y="2805755"/>
          <a:ext cx="807027" cy="807027"/>
        </a:xfrm>
        <a:prstGeom prst="mathPlus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616388" y="3114362"/>
        <a:ext cx="593085" cy="189813"/>
      </dsp:txXfrm>
    </dsp:sp>
    <dsp:sp modelId="{80933A7E-F143-4826-A00B-A0928D76F709}">
      <dsp:nvSpPr>
        <dsp:cNvPr id="0" name=""/>
        <dsp:cNvSpPr/>
      </dsp:nvSpPr>
      <dsp:spPr>
        <a:xfrm>
          <a:off x="2429428" y="2513556"/>
          <a:ext cx="1391425" cy="13914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"/>
            </a:rPr>
            <a:t> 30% Claims</a:t>
          </a:r>
          <a:endParaRPr lang="en-US" sz="1500" kern="1200" dirty="0"/>
        </a:p>
      </dsp:txBody>
      <dsp:txXfrm>
        <a:off x="2633197" y="2717325"/>
        <a:ext cx="983887" cy="983887"/>
      </dsp:txXfrm>
    </dsp:sp>
    <dsp:sp modelId="{77819786-B67E-40C2-85D3-F2DE6512116D}">
      <dsp:nvSpPr>
        <dsp:cNvPr id="0" name=""/>
        <dsp:cNvSpPr/>
      </dsp:nvSpPr>
      <dsp:spPr>
        <a:xfrm>
          <a:off x="3933838" y="2805755"/>
          <a:ext cx="807027" cy="807027"/>
        </a:xfrm>
        <a:prstGeom prst="mathPlus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040809" y="3114362"/>
        <a:ext cx="593085" cy="189813"/>
      </dsp:txXfrm>
    </dsp:sp>
    <dsp:sp modelId="{7ADCEF1D-74DE-4F65-9F5F-AF82D3E65186}">
      <dsp:nvSpPr>
        <dsp:cNvPr id="0" name=""/>
        <dsp:cNvSpPr/>
      </dsp:nvSpPr>
      <dsp:spPr>
        <a:xfrm>
          <a:off x="4853849" y="2513556"/>
          <a:ext cx="1391425" cy="13914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"/>
            </a:rPr>
            <a:t> 30% Revenue Growth</a:t>
          </a:r>
          <a:endParaRPr lang="en-US" sz="1500" kern="1200" dirty="0"/>
        </a:p>
      </dsp:txBody>
      <dsp:txXfrm>
        <a:off x="5057618" y="2717325"/>
        <a:ext cx="983887" cy="983887"/>
      </dsp:txXfrm>
    </dsp:sp>
    <dsp:sp modelId="{6DE48B91-122C-497D-B0D3-FF5950ED3486}">
      <dsp:nvSpPr>
        <dsp:cNvPr id="0" name=""/>
        <dsp:cNvSpPr/>
      </dsp:nvSpPr>
      <dsp:spPr>
        <a:xfrm>
          <a:off x="6358258" y="2805755"/>
          <a:ext cx="807027" cy="807027"/>
        </a:xfrm>
        <a:prstGeom prst="mathEqual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465229" y="2972003"/>
        <a:ext cx="593085" cy="474531"/>
      </dsp:txXfrm>
    </dsp:sp>
    <dsp:sp modelId="{98D183C2-98F3-4C82-917B-87F5315ABF98}">
      <dsp:nvSpPr>
        <dsp:cNvPr id="0" name=""/>
        <dsp:cNvSpPr/>
      </dsp:nvSpPr>
      <dsp:spPr>
        <a:xfrm>
          <a:off x="7278269" y="2513556"/>
          <a:ext cx="1391425" cy="13914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"/>
            </a:rPr>
            <a:t> Final score</a:t>
          </a:r>
        </a:p>
      </dsp:txBody>
      <dsp:txXfrm>
        <a:off x="7482038" y="2717325"/>
        <a:ext cx="983887" cy="983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5248" y="569088"/>
            <a:ext cx="8940672" cy="3157248"/>
            <a:chOff x="0" y="0"/>
            <a:chExt cx="11920896" cy="4209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20896" cy="4209664"/>
            </a:xfrm>
            <a:custGeom>
              <a:avLst/>
              <a:gdLst/>
              <a:ahLst/>
              <a:cxnLst/>
              <a:rect l="l" t="t" r="r" b="b"/>
              <a:pathLst>
                <a:path w="11920896" h="4209664">
                  <a:moveTo>
                    <a:pt x="0" y="0"/>
                  </a:moveTo>
                  <a:lnTo>
                    <a:pt x="11920896" y="0"/>
                  </a:lnTo>
                  <a:lnTo>
                    <a:pt x="11920896" y="4209664"/>
                  </a:lnTo>
                  <a:lnTo>
                    <a:pt x="0" y="4209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920896" cy="426681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83"/>
                </a:lnSpc>
              </a:pPr>
              <a:r>
                <a:rPr lang="en-US" sz="2986" b="1" spc="-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Bachelor of Technology</a:t>
              </a:r>
            </a:p>
            <a:p>
              <a:pPr algn="ctr">
                <a:lnSpc>
                  <a:spcPts val="1791"/>
                </a:lnSpc>
              </a:pPr>
              <a:endParaRPr lang="en-US" sz="2986" b="1" spc="-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304"/>
                </a:lnSpc>
              </a:pPr>
              <a:r>
                <a:rPr lang="en-US" sz="1920" b="1" spc="-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Internship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spc="-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Final Presentation</a:t>
              </a:r>
            </a:p>
            <a:p>
              <a:pPr algn="ctr">
                <a:lnSpc>
                  <a:spcPts val="1791"/>
                </a:lnSpc>
              </a:pPr>
              <a:endParaRPr lang="en-US" sz="1920" b="1" spc="-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1791"/>
                </a:lnSpc>
              </a:pPr>
              <a:r>
                <a:rPr lang="en-US" sz="1493" b="1" spc="-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Academic Year 2024-25</a:t>
              </a:r>
            </a:p>
            <a:p>
              <a:pPr algn="ctr">
                <a:lnSpc>
                  <a:spcPts val="1791"/>
                </a:lnSpc>
              </a:pPr>
              <a:r>
                <a:rPr lang="en-US" sz="1493" b="1" spc="-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Semester VIII</a:t>
              </a:r>
            </a:p>
            <a:p>
              <a:pPr algn="ctr">
                <a:lnSpc>
                  <a:spcPts val="1791"/>
                </a:lnSpc>
              </a:pPr>
              <a:endParaRPr lang="en-US" sz="1493" b="1" spc="-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1791"/>
                </a:lnSpc>
              </a:pPr>
              <a:endParaRPr lang="en-US" sz="1493" b="1" spc="-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304"/>
                </a:lnSpc>
              </a:pPr>
              <a:r>
                <a:rPr lang="en-US" sz="1920" b="1" spc="16" dirty="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 </a:t>
              </a:r>
            </a:p>
            <a:p>
              <a:pPr algn="ctr">
                <a:lnSpc>
                  <a:spcPts val="1791"/>
                </a:lnSpc>
              </a:pPr>
              <a:r>
                <a:rPr lang="en-US" sz="1493" b="1" spc="12" dirty="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 </a:t>
              </a:r>
            </a:p>
          </p:txBody>
        </p:sp>
      </p:grpSp>
      <p:sp>
        <p:nvSpPr>
          <p:cNvPr id="5" name="Freeform 5" descr="C:\Documents and Settings\sachin.arondekar\Desktop\NMIMSLogo.PNG"/>
          <p:cNvSpPr/>
          <p:nvPr/>
        </p:nvSpPr>
        <p:spPr>
          <a:xfrm>
            <a:off x="4145280" y="2844672"/>
            <a:ext cx="1463040" cy="1148160"/>
          </a:xfrm>
          <a:custGeom>
            <a:avLst/>
            <a:gdLst/>
            <a:ahLst/>
            <a:cxnLst/>
            <a:rect l="l" t="t" r="r" b="b"/>
            <a:pathLst>
              <a:path w="1463040" h="1148160">
                <a:moveTo>
                  <a:pt x="0" y="0"/>
                </a:moveTo>
                <a:lnTo>
                  <a:pt x="1463040" y="0"/>
                </a:lnTo>
                <a:lnTo>
                  <a:pt x="1463040" y="1148160"/>
                </a:lnTo>
                <a:lnTo>
                  <a:pt x="0" y="114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" b="-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174208" y="4521216"/>
            <a:ext cx="5405184" cy="2164224"/>
            <a:chOff x="0" y="0"/>
            <a:chExt cx="7206912" cy="28856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06869" cy="2885567"/>
            </a:xfrm>
            <a:custGeom>
              <a:avLst/>
              <a:gdLst/>
              <a:ahLst/>
              <a:cxnLst/>
              <a:rect l="l" t="t" r="r" b="b"/>
              <a:pathLst>
                <a:path w="7206869" h="2885567">
                  <a:moveTo>
                    <a:pt x="54229" y="0"/>
                  </a:moveTo>
                  <a:lnTo>
                    <a:pt x="7152640" y="0"/>
                  </a:lnTo>
                  <a:cubicBezTo>
                    <a:pt x="7182612" y="0"/>
                    <a:pt x="7206869" y="24257"/>
                    <a:pt x="7206869" y="54229"/>
                  </a:cubicBezTo>
                  <a:lnTo>
                    <a:pt x="7206869" y="2831338"/>
                  </a:lnTo>
                  <a:cubicBezTo>
                    <a:pt x="7206869" y="2861310"/>
                    <a:pt x="7182612" y="2885567"/>
                    <a:pt x="7152640" y="2885567"/>
                  </a:cubicBezTo>
                  <a:lnTo>
                    <a:pt x="54229" y="2885567"/>
                  </a:lnTo>
                  <a:cubicBezTo>
                    <a:pt x="24257" y="2885567"/>
                    <a:pt x="0" y="2861310"/>
                    <a:pt x="0" y="2831338"/>
                  </a:cubicBezTo>
                  <a:lnTo>
                    <a:pt x="0" y="54229"/>
                  </a:lnTo>
                  <a:cubicBezTo>
                    <a:pt x="0" y="24257"/>
                    <a:pt x="24257" y="0"/>
                    <a:pt x="54229" y="0"/>
                  </a:cubicBezTo>
                  <a:moveTo>
                    <a:pt x="54229" y="108585"/>
                  </a:moveTo>
                  <a:lnTo>
                    <a:pt x="54229" y="54229"/>
                  </a:lnTo>
                  <a:lnTo>
                    <a:pt x="108585" y="54229"/>
                  </a:lnTo>
                  <a:lnTo>
                    <a:pt x="108585" y="2831338"/>
                  </a:lnTo>
                  <a:lnTo>
                    <a:pt x="54229" y="2831338"/>
                  </a:lnTo>
                  <a:lnTo>
                    <a:pt x="54229" y="2777109"/>
                  </a:lnTo>
                  <a:lnTo>
                    <a:pt x="7152640" y="2777109"/>
                  </a:lnTo>
                  <a:lnTo>
                    <a:pt x="7152640" y="2831338"/>
                  </a:lnTo>
                  <a:lnTo>
                    <a:pt x="7098411" y="2831338"/>
                  </a:lnTo>
                  <a:lnTo>
                    <a:pt x="7098411" y="54229"/>
                  </a:lnTo>
                  <a:lnTo>
                    <a:pt x="7152640" y="54229"/>
                  </a:lnTo>
                  <a:lnTo>
                    <a:pt x="7152640" y="108585"/>
                  </a:lnTo>
                  <a:lnTo>
                    <a:pt x="54229" y="108585"/>
                  </a:lnTo>
                  <a:close/>
                </a:path>
              </a:pathLst>
            </a:custGeom>
            <a:solidFill>
              <a:srgbClr val="62242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7206912" cy="288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1"/>
                </a:lnSpc>
              </a:pPr>
              <a:r>
                <a:rPr lang="en-US" sz="1493" b="1" spc="12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SVKM’s NMIMS</a:t>
              </a:r>
            </a:p>
            <a:p>
              <a:pPr algn="ctr">
                <a:lnSpc>
                  <a:spcPts val="1791"/>
                </a:lnSpc>
              </a:pPr>
              <a:r>
                <a:rPr lang="en-US" sz="1493" b="1" spc="12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Mukesh Patel School of Technology Management and Engineering, Vile Parle, Mumbai- 400056</a:t>
              </a:r>
            </a:p>
            <a:p>
              <a:pPr algn="ctr">
                <a:lnSpc>
                  <a:spcPts val="1791"/>
                </a:lnSpc>
              </a:pPr>
              <a:endParaRPr lang="en-US" sz="1493" b="1" spc="12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endParaRPr>
            </a:p>
            <a:p>
              <a:pPr algn="ctr">
                <a:lnSpc>
                  <a:spcPts val="1791"/>
                </a:lnSpc>
              </a:pPr>
              <a:r>
                <a:rPr lang="en-US" sz="1493" b="1" spc="12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Department of Artificial Intelligence</a:t>
              </a:r>
            </a:p>
            <a:p>
              <a:pPr algn="ctr">
                <a:lnSpc>
                  <a:spcPts val="1791"/>
                </a:lnSpc>
              </a:pPr>
              <a:endParaRPr lang="en-US" sz="1493" b="1" spc="12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1525549"/>
            <a:ext cx="8534400" cy="6894390"/>
            <a:chOff x="0" y="0"/>
            <a:chExt cx="11379200" cy="9192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79200" cy="9192520"/>
            </a:xfrm>
            <a:custGeom>
              <a:avLst/>
              <a:gdLst/>
              <a:ahLst/>
              <a:cxnLst/>
              <a:rect l="l" t="t" r="r" b="b"/>
              <a:pathLst>
                <a:path w="11379200" h="9192520">
                  <a:moveTo>
                    <a:pt x="0" y="0"/>
                  </a:moveTo>
                  <a:lnTo>
                    <a:pt x="11379200" y="0"/>
                  </a:lnTo>
                  <a:lnTo>
                    <a:pt x="11379200" y="9192520"/>
                  </a:lnTo>
                  <a:lnTo>
                    <a:pt x="0" y="9192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379200" cy="92306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0"/>
                </a:lnSpc>
              </a:pPr>
              <a:r>
                <a:rPr lang="en-US" sz="2133" b="1" spc="-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  PRESENTATION  ON </a:t>
              </a:r>
            </a:p>
            <a:p>
              <a:pPr algn="ctr">
                <a:lnSpc>
                  <a:spcPts val="2560"/>
                </a:lnSpc>
              </a:pPr>
              <a:endParaRPr lang="en-US" sz="2133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95"/>
                </a:lnSpc>
              </a:pPr>
              <a:r>
                <a:rPr lang="en-US" sz="3413" b="1" spc="-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“Internship at Fairfax Asia”</a:t>
              </a:r>
            </a:p>
            <a:p>
              <a:pPr algn="ctr">
                <a:lnSpc>
                  <a:spcPts val="2560"/>
                </a:lnSpc>
              </a:pPr>
              <a:endParaRPr lang="en-US" sz="3413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304"/>
                </a:lnSpc>
              </a:pPr>
              <a:r>
                <a:rPr lang="en-US" sz="1920" spc="-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By</a:t>
              </a:r>
            </a:p>
            <a:p>
              <a:pPr algn="ctr">
                <a:lnSpc>
                  <a:spcPts val="2560"/>
                </a:lnSpc>
              </a:pPr>
              <a:endParaRPr lang="en-US" sz="192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2304"/>
                </a:lnSpc>
              </a:pPr>
              <a:r>
                <a:rPr lang="en-US" sz="1920" b="1" spc="-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Ananya Datta, I014 and 70122100048</a:t>
              </a:r>
            </a:p>
            <a:p>
              <a:pPr algn="ctr">
                <a:lnSpc>
                  <a:spcPts val="2560"/>
                </a:lnSpc>
              </a:pPr>
              <a:endParaRPr lang="en-US" sz="1920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560"/>
                </a:lnSpc>
              </a:pPr>
              <a:endParaRPr lang="en-US" sz="1920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304"/>
                </a:lnSpc>
              </a:pPr>
              <a:r>
                <a:rPr lang="en-US" sz="1920" spc="-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Under the guidance of </a:t>
              </a:r>
            </a:p>
            <a:p>
              <a:pPr algn="ctr">
                <a:lnSpc>
                  <a:spcPts val="2560"/>
                </a:lnSpc>
              </a:pPr>
              <a:endParaRPr lang="en-US" sz="192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2560"/>
                </a:lnSpc>
              </a:pPr>
              <a:endParaRPr lang="en-US" sz="192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2560"/>
                </a:lnSpc>
              </a:pPr>
              <a:r>
                <a:rPr lang="en-US" sz="2133" b="1" spc="-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Dr.Hima Deepthi</a:t>
              </a:r>
            </a:p>
            <a:p>
              <a:pPr algn="ctr">
                <a:lnSpc>
                  <a:spcPts val="2560"/>
                </a:lnSpc>
              </a:pPr>
              <a:endParaRPr lang="en-US" sz="2133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560"/>
                </a:lnSpc>
              </a:pPr>
              <a:endParaRPr lang="en-US" sz="2133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l">
                <a:lnSpc>
                  <a:spcPts val="2560"/>
                </a:lnSpc>
              </a:pPr>
              <a:endParaRPr lang="en-US" sz="2133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304"/>
                </a:lnSpc>
              </a:pPr>
              <a:r>
                <a:rPr lang="en-US" sz="1920" spc="16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			</a:t>
              </a:r>
            </a:p>
            <a:p>
              <a:pPr algn="ctr">
                <a:lnSpc>
                  <a:spcPts val="2560"/>
                </a:lnSpc>
              </a:pPr>
              <a:endParaRPr lang="en-US" sz="1920" spc="16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  <a:p>
              <a:pPr algn="ctr">
                <a:lnSpc>
                  <a:spcPts val="2560"/>
                </a:lnSpc>
              </a:pPr>
              <a:endParaRPr lang="en-US" sz="1920" spc="16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  <a:p>
              <a:pPr algn="ctr">
                <a:lnSpc>
                  <a:spcPts val="2560"/>
                </a:lnSpc>
              </a:pPr>
              <a:endParaRPr lang="en-US" sz="1920" spc="16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  <a:p>
              <a:pPr algn="ctr">
                <a:lnSpc>
                  <a:spcPts val="2304"/>
                </a:lnSpc>
              </a:pPr>
              <a:r>
                <a:rPr lang="en-US" sz="1920" spc="16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31271" y="685800"/>
            <a:ext cx="5291058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About Fairfax Asia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02AFC0F-2BBD-CA72-97EE-B94EB34BD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1549835"/>
              </p:ext>
            </p:extLst>
          </p:nvPr>
        </p:nvGraphicFramePr>
        <p:xfrm>
          <a:off x="1219200" y="1981200"/>
          <a:ext cx="7518400" cy="4334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0" y="2582469"/>
            <a:ext cx="3733800" cy="1475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Internship Overview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27F9207-2680-6B4D-1E69-831BEF7888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1904984"/>
              </p:ext>
            </p:extLst>
          </p:nvPr>
        </p:nvGraphicFramePr>
        <p:xfrm>
          <a:off x="-762000" y="381000"/>
          <a:ext cx="8431214" cy="655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8614" y="664845"/>
            <a:ext cx="6536373" cy="706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 of the Internship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D9C21E5-4A86-7BCE-63AD-704E362606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2701145"/>
              </p:ext>
            </p:extLst>
          </p:nvPr>
        </p:nvGraphicFramePr>
        <p:xfrm>
          <a:off x="1608614" y="1828800"/>
          <a:ext cx="6849586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E6A9F-01F6-33D3-C1AF-24D5788B1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903AAAF-DB1F-1FF5-DE7F-DE501579C930}"/>
              </a:ext>
            </a:extLst>
          </p:cNvPr>
          <p:cNvSpPr txBox="1"/>
          <p:nvPr/>
        </p:nvSpPr>
        <p:spPr>
          <a:xfrm>
            <a:off x="1134035" y="533400"/>
            <a:ext cx="7306786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Projects Overview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A32C431-A759-B7F8-057D-3E7756894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8434826"/>
              </p:ext>
            </p:extLst>
          </p:nvPr>
        </p:nvGraphicFramePr>
        <p:xfrm>
          <a:off x="558328" y="2057400"/>
          <a:ext cx="8458200" cy="4334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21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98061-B5D0-32AE-1F6A-A42F0FB8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7F1003A-EF56-019E-00A2-4FD640A09F3D}"/>
              </a:ext>
            </a:extLst>
          </p:cNvPr>
          <p:cNvSpPr txBox="1"/>
          <p:nvPr/>
        </p:nvSpPr>
        <p:spPr>
          <a:xfrm>
            <a:off x="1134035" y="533400"/>
            <a:ext cx="7306786" cy="1475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Skills Utilized &amp; </a:t>
            </a:r>
          </a:p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 Skills Developed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FF9794-D1EB-18E3-1A59-2DD310C7D1DD}"/>
              </a:ext>
            </a:extLst>
          </p:cNvPr>
          <p:cNvSpPr/>
          <p:nvPr/>
        </p:nvSpPr>
        <p:spPr>
          <a:xfrm>
            <a:off x="762000" y="2864224"/>
            <a:ext cx="3361765" cy="35052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b="1" dirty="0"/>
              <a:t>Python Programming</a:t>
            </a:r>
            <a:r>
              <a:rPr lang="en-US" dirty="0"/>
              <a:t>: for cleaning, analysis and model implementation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Pandas, </a:t>
            </a:r>
            <a:r>
              <a:rPr lang="en-US" b="1" dirty="0" err="1"/>
              <a:t>Numpy</a:t>
            </a:r>
            <a:r>
              <a:rPr lang="en-US" b="1" dirty="0"/>
              <a:t> </a:t>
            </a:r>
            <a:r>
              <a:rPr lang="en-US" dirty="0"/>
              <a:t>for data manipulation and </a:t>
            </a:r>
            <a:r>
              <a:rPr lang="en-US" b="1" dirty="0"/>
              <a:t>Scikit-Learn</a:t>
            </a:r>
            <a:r>
              <a:rPr lang="en-US" dirty="0"/>
              <a:t> for building ML models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Used </a:t>
            </a:r>
            <a:r>
              <a:rPr lang="en-US" b="1" dirty="0"/>
              <a:t>Matplotlib and Seaborn </a:t>
            </a:r>
            <a:r>
              <a:rPr lang="en-US" dirty="0"/>
              <a:t>to explore trends and model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3D188-E7DB-486B-2A5E-19C18B6305BD}"/>
              </a:ext>
            </a:extLst>
          </p:cNvPr>
          <p:cNvSpPr/>
          <p:nvPr/>
        </p:nvSpPr>
        <p:spPr>
          <a:xfrm>
            <a:off x="4756052" y="2864224"/>
            <a:ext cx="4177003" cy="35052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b="1" dirty="0"/>
              <a:t>Effective communication</a:t>
            </a:r>
            <a:r>
              <a:rPr lang="en-US" dirty="0"/>
              <a:t>: Learned to present data-driven stories and insights to non-technical stakeholders and senior management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Team Collaboration </a:t>
            </a:r>
            <a:r>
              <a:rPr lang="en-US" dirty="0"/>
              <a:t>including data scientists, data engineers and client underwriters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Problem solving</a:t>
            </a:r>
            <a:r>
              <a:rPr lang="en-US" dirty="0"/>
              <a:t>: Tackled ambiguous problems by breaking them into manageable data-driven components</a:t>
            </a:r>
          </a:p>
        </p:txBody>
      </p:sp>
    </p:spTree>
    <p:extLst>
      <p:ext uri="{BB962C8B-B14F-4D97-AF65-F5344CB8AC3E}">
        <p14:creationId xmlns:p14="http://schemas.microsoft.com/office/powerpoint/2010/main" val="314412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5819" y="612257"/>
            <a:ext cx="6437240" cy="1475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Preprocessing</a:t>
            </a:r>
          </a:p>
          <a:p>
            <a:pPr algn="ctr">
              <a:lnSpc>
                <a:spcPts val="6020"/>
              </a:lnSpc>
            </a:pPr>
            <a:endParaRPr lang="en-US" sz="43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AutoShape 3"/>
          <p:cNvSpPr/>
          <p:nvPr/>
        </p:nvSpPr>
        <p:spPr>
          <a:xfrm rot="4374">
            <a:off x="949742" y="2430082"/>
            <a:ext cx="798373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18568" y="2000243"/>
            <a:ext cx="2035450" cy="1705403"/>
            <a:chOff x="0" y="0"/>
            <a:chExt cx="5088624" cy="4263508"/>
          </a:xfrm>
        </p:grpSpPr>
        <p:sp>
          <p:nvSpPr>
            <p:cNvPr id="5" name="Freeform 5"/>
            <p:cNvSpPr/>
            <p:nvPr/>
          </p:nvSpPr>
          <p:spPr>
            <a:xfrm>
              <a:off x="15875" y="15875"/>
              <a:ext cx="5056886" cy="4231767"/>
            </a:xfrm>
            <a:custGeom>
              <a:avLst/>
              <a:gdLst/>
              <a:ahLst/>
              <a:cxnLst/>
              <a:rect l="l" t="t" r="r" b="b"/>
              <a:pathLst>
                <a:path w="5056886" h="4231767">
                  <a:moveTo>
                    <a:pt x="0" y="705358"/>
                  </a:moveTo>
                  <a:cubicBezTo>
                    <a:pt x="0" y="315849"/>
                    <a:pt x="316103" y="0"/>
                    <a:pt x="706120" y="0"/>
                  </a:cubicBezTo>
                  <a:lnTo>
                    <a:pt x="4350766" y="0"/>
                  </a:lnTo>
                  <a:cubicBezTo>
                    <a:pt x="4740783" y="0"/>
                    <a:pt x="5056886" y="315722"/>
                    <a:pt x="5056886" y="705358"/>
                  </a:cubicBezTo>
                  <a:lnTo>
                    <a:pt x="5056886" y="3526409"/>
                  </a:lnTo>
                  <a:cubicBezTo>
                    <a:pt x="5056886" y="3915918"/>
                    <a:pt x="4740783" y="4231767"/>
                    <a:pt x="4350766" y="4231767"/>
                  </a:cubicBezTo>
                  <a:lnTo>
                    <a:pt x="706120" y="4231767"/>
                  </a:lnTo>
                  <a:cubicBezTo>
                    <a:pt x="316103" y="4231767"/>
                    <a:pt x="0" y="3916045"/>
                    <a:pt x="0" y="3526409"/>
                  </a:cubicBezTo>
                  <a:close/>
                </a:path>
              </a:pathLst>
            </a:custGeom>
            <a:solidFill>
              <a:srgbClr val="9BA8B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5088636" cy="4263517"/>
            </a:xfrm>
            <a:custGeom>
              <a:avLst/>
              <a:gdLst/>
              <a:ahLst/>
              <a:cxnLst/>
              <a:rect l="l" t="t" r="r" b="b"/>
              <a:pathLst>
                <a:path w="5088636" h="4263517">
                  <a:moveTo>
                    <a:pt x="0" y="721233"/>
                  </a:moveTo>
                  <a:cubicBezTo>
                    <a:pt x="0" y="322834"/>
                    <a:pt x="323342" y="0"/>
                    <a:pt x="721995" y="0"/>
                  </a:cubicBezTo>
                  <a:lnTo>
                    <a:pt x="4366641" y="0"/>
                  </a:lnTo>
                  <a:lnTo>
                    <a:pt x="4366641" y="15875"/>
                  </a:lnTo>
                  <a:lnTo>
                    <a:pt x="4366641" y="0"/>
                  </a:lnTo>
                  <a:cubicBezTo>
                    <a:pt x="4765421" y="0"/>
                    <a:pt x="5088636" y="322834"/>
                    <a:pt x="5088636" y="721233"/>
                  </a:cubicBezTo>
                  <a:lnTo>
                    <a:pt x="5072761" y="721233"/>
                  </a:lnTo>
                  <a:lnTo>
                    <a:pt x="5088636" y="721233"/>
                  </a:lnTo>
                  <a:lnTo>
                    <a:pt x="5088636" y="3542284"/>
                  </a:lnTo>
                  <a:lnTo>
                    <a:pt x="5072761" y="3542284"/>
                  </a:lnTo>
                  <a:lnTo>
                    <a:pt x="5088636" y="3542284"/>
                  </a:lnTo>
                  <a:cubicBezTo>
                    <a:pt x="5088636" y="3940556"/>
                    <a:pt x="4765294" y="4263517"/>
                    <a:pt x="4366641" y="4263517"/>
                  </a:cubicBezTo>
                  <a:lnTo>
                    <a:pt x="4366641" y="4247642"/>
                  </a:lnTo>
                  <a:lnTo>
                    <a:pt x="4366641" y="4263517"/>
                  </a:lnTo>
                  <a:lnTo>
                    <a:pt x="721995" y="4263517"/>
                  </a:lnTo>
                  <a:lnTo>
                    <a:pt x="721995" y="4247642"/>
                  </a:lnTo>
                  <a:lnTo>
                    <a:pt x="721995" y="4263517"/>
                  </a:lnTo>
                  <a:cubicBezTo>
                    <a:pt x="323342" y="4263517"/>
                    <a:pt x="0" y="3940683"/>
                    <a:pt x="0" y="3542284"/>
                  </a:cubicBezTo>
                  <a:lnTo>
                    <a:pt x="0" y="721233"/>
                  </a:lnTo>
                  <a:lnTo>
                    <a:pt x="15875" y="721233"/>
                  </a:lnTo>
                  <a:lnTo>
                    <a:pt x="0" y="721233"/>
                  </a:lnTo>
                  <a:moveTo>
                    <a:pt x="31750" y="721233"/>
                  </a:moveTo>
                  <a:lnTo>
                    <a:pt x="31750" y="3542284"/>
                  </a:lnTo>
                  <a:lnTo>
                    <a:pt x="15875" y="3542284"/>
                  </a:lnTo>
                  <a:lnTo>
                    <a:pt x="31750" y="3542284"/>
                  </a:lnTo>
                  <a:cubicBezTo>
                    <a:pt x="31750" y="3923030"/>
                    <a:pt x="340741" y="4231767"/>
                    <a:pt x="721995" y="4231767"/>
                  </a:cubicBezTo>
                  <a:lnTo>
                    <a:pt x="4366641" y="4231767"/>
                  </a:lnTo>
                  <a:cubicBezTo>
                    <a:pt x="4747895" y="4231767"/>
                    <a:pt x="5056886" y="3923030"/>
                    <a:pt x="5056886" y="3542284"/>
                  </a:cubicBezTo>
                  <a:lnTo>
                    <a:pt x="5056886" y="721233"/>
                  </a:lnTo>
                  <a:cubicBezTo>
                    <a:pt x="5056886" y="340487"/>
                    <a:pt x="4747895" y="31750"/>
                    <a:pt x="4366641" y="31750"/>
                  </a:cubicBezTo>
                  <a:lnTo>
                    <a:pt x="721995" y="31750"/>
                  </a:lnTo>
                  <a:lnTo>
                    <a:pt x="721995" y="15875"/>
                  </a:lnTo>
                  <a:lnTo>
                    <a:pt x="721995" y="31750"/>
                  </a:lnTo>
                  <a:cubicBezTo>
                    <a:pt x="340741" y="31750"/>
                    <a:pt x="31750" y="340487"/>
                    <a:pt x="31750" y="721233"/>
                  </a:cubicBezTo>
                  <a:close/>
                </a:path>
              </a:pathLst>
            </a:custGeom>
            <a:solidFill>
              <a:srgbClr val="3F45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88624" cy="4301608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l">
                <a:lnSpc>
                  <a:spcPts val="1727"/>
                </a:lnSpc>
              </a:pPr>
              <a:r>
                <a:rPr lang="en-US" sz="1439" dirty="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Problem Statement:</a:t>
              </a:r>
            </a:p>
            <a:p>
              <a:pPr algn="l">
                <a:lnSpc>
                  <a:spcPts val="1727"/>
                </a:lnSpc>
              </a:pP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Predicting motor insurance premiums based on claim costs using market data.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05682" y="1938224"/>
            <a:ext cx="1399857" cy="1400084"/>
            <a:chOff x="0" y="0"/>
            <a:chExt cx="3499642" cy="3500210"/>
          </a:xfrm>
        </p:grpSpPr>
        <p:sp>
          <p:nvSpPr>
            <p:cNvPr id="9" name="Freeform 9"/>
            <p:cNvSpPr/>
            <p:nvPr/>
          </p:nvSpPr>
          <p:spPr>
            <a:xfrm>
              <a:off x="15875" y="15875"/>
              <a:ext cx="3467862" cy="3468497"/>
            </a:xfrm>
            <a:custGeom>
              <a:avLst/>
              <a:gdLst/>
              <a:ahLst/>
              <a:cxnLst/>
              <a:rect l="l" t="t" r="r" b="b"/>
              <a:pathLst>
                <a:path w="3467862" h="3468497">
                  <a:moveTo>
                    <a:pt x="0" y="1734185"/>
                  </a:moveTo>
                  <a:cubicBezTo>
                    <a:pt x="0" y="776478"/>
                    <a:pt x="776351" y="0"/>
                    <a:pt x="1733931" y="0"/>
                  </a:cubicBezTo>
                  <a:cubicBezTo>
                    <a:pt x="2691511" y="0"/>
                    <a:pt x="3467862" y="776478"/>
                    <a:pt x="3467862" y="1734185"/>
                  </a:cubicBezTo>
                  <a:cubicBezTo>
                    <a:pt x="3467862" y="2691892"/>
                    <a:pt x="2691638" y="3468497"/>
                    <a:pt x="1733931" y="3468497"/>
                  </a:cubicBezTo>
                  <a:cubicBezTo>
                    <a:pt x="776224" y="3468497"/>
                    <a:pt x="0" y="2692019"/>
                    <a:pt x="0" y="1734185"/>
                  </a:cubicBezTo>
                  <a:close/>
                </a:path>
              </a:pathLst>
            </a:custGeom>
            <a:solidFill>
              <a:srgbClr val="6A6E5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3499612" cy="3500247"/>
            </a:xfrm>
            <a:custGeom>
              <a:avLst/>
              <a:gdLst/>
              <a:ahLst/>
              <a:cxnLst/>
              <a:rect l="l" t="t" r="r" b="b"/>
              <a:pathLst>
                <a:path w="3499612" h="3500247">
                  <a:moveTo>
                    <a:pt x="0" y="1750060"/>
                  </a:moveTo>
                  <a:cubicBezTo>
                    <a:pt x="0" y="783590"/>
                    <a:pt x="783463" y="0"/>
                    <a:pt x="1749806" y="0"/>
                  </a:cubicBezTo>
                  <a:lnTo>
                    <a:pt x="1749806" y="15875"/>
                  </a:lnTo>
                  <a:lnTo>
                    <a:pt x="1749806" y="0"/>
                  </a:lnTo>
                  <a:cubicBezTo>
                    <a:pt x="2716149" y="0"/>
                    <a:pt x="3499612" y="783590"/>
                    <a:pt x="3499612" y="1750060"/>
                  </a:cubicBezTo>
                  <a:lnTo>
                    <a:pt x="3483737" y="1750060"/>
                  </a:lnTo>
                  <a:lnTo>
                    <a:pt x="3499612" y="1750060"/>
                  </a:lnTo>
                  <a:cubicBezTo>
                    <a:pt x="3499612" y="2716657"/>
                    <a:pt x="2716149" y="3500120"/>
                    <a:pt x="1749806" y="3500120"/>
                  </a:cubicBezTo>
                  <a:lnTo>
                    <a:pt x="1749806" y="3484245"/>
                  </a:lnTo>
                  <a:lnTo>
                    <a:pt x="1749806" y="3500120"/>
                  </a:lnTo>
                  <a:cubicBezTo>
                    <a:pt x="783463" y="3500247"/>
                    <a:pt x="0" y="2716657"/>
                    <a:pt x="0" y="1750060"/>
                  </a:cubicBezTo>
                  <a:lnTo>
                    <a:pt x="15875" y="1750060"/>
                  </a:lnTo>
                  <a:lnTo>
                    <a:pt x="29210" y="1758569"/>
                  </a:lnTo>
                  <a:cubicBezTo>
                    <a:pt x="25400" y="1764538"/>
                    <a:pt x="18161" y="1767205"/>
                    <a:pt x="11430" y="1765300"/>
                  </a:cubicBezTo>
                  <a:cubicBezTo>
                    <a:pt x="4699" y="1763395"/>
                    <a:pt x="0" y="1757172"/>
                    <a:pt x="0" y="1750060"/>
                  </a:cubicBezTo>
                  <a:moveTo>
                    <a:pt x="31750" y="1750060"/>
                  </a:moveTo>
                  <a:lnTo>
                    <a:pt x="15875" y="1750060"/>
                  </a:lnTo>
                  <a:lnTo>
                    <a:pt x="2540" y="1741551"/>
                  </a:lnTo>
                  <a:cubicBezTo>
                    <a:pt x="6350" y="1735582"/>
                    <a:pt x="13589" y="1732915"/>
                    <a:pt x="20320" y="1734820"/>
                  </a:cubicBezTo>
                  <a:cubicBezTo>
                    <a:pt x="27051" y="1736725"/>
                    <a:pt x="31750" y="1742948"/>
                    <a:pt x="31750" y="1750060"/>
                  </a:cubicBezTo>
                  <a:cubicBezTo>
                    <a:pt x="31750" y="2699131"/>
                    <a:pt x="800989" y="3468370"/>
                    <a:pt x="1749806" y="3468370"/>
                  </a:cubicBezTo>
                  <a:cubicBezTo>
                    <a:pt x="2698623" y="3468370"/>
                    <a:pt x="3467862" y="2699004"/>
                    <a:pt x="3467862" y="1750060"/>
                  </a:cubicBezTo>
                  <a:cubicBezTo>
                    <a:pt x="3467862" y="801116"/>
                    <a:pt x="2698623" y="31750"/>
                    <a:pt x="1749806" y="31750"/>
                  </a:cubicBezTo>
                  <a:lnTo>
                    <a:pt x="1749806" y="15875"/>
                  </a:lnTo>
                  <a:lnTo>
                    <a:pt x="1749806" y="31750"/>
                  </a:lnTo>
                  <a:cubicBezTo>
                    <a:pt x="800989" y="31750"/>
                    <a:pt x="31750" y="801116"/>
                    <a:pt x="31750" y="175006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51453" y="1984479"/>
            <a:ext cx="1307577" cy="1307575"/>
            <a:chOff x="0" y="0"/>
            <a:chExt cx="3268942" cy="3268938"/>
          </a:xfrm>
        </p:grpSpPr>
        <p:sp>
          <p:nvSpPr>
            <p:cNvPr id="12" name="Freeform 12"/>
            <p:cNvSpPr/>
            <p:nvPr/>
          </p:nvSpPr>
          <p:spPr>
            <a:xfrm>
              <a:off x="15875" y="15875"/>
              <a:ext cx="3237230" cy="3237230"/>
            </a:xfrm>
            <a:custGeom>
              <a:avLst/>
              <a:gdLst/>
              <a:ahLst/>
              <a:cxnLst/>
              <a:rect l="l" t="t" r="r" b="b"/>
              <a:pathLst>
                <a:path w="3237230" h="3237230">
                  <a:moveTo>
                    <a:pt x="0" y="1618615"/>
                  </a:moveTo>
                  <a:cubicBezTo>
                    <a:pt x="0" y="724662"/>
                    <a:pt x="724662" y="0"/>
                    <a:pt x="1618615" y="0"/>
                  </a:cubicBezTo>
                  <a:cubicBezTo>
                    <a:pt x="2512568" y="0"/>
                    <a:pt x="3237230" y="724662"/>
                    <a:pt x="3237230" y="1618615"/>
                  </a:cubicBezTo>
                  <a:cubicBezTo>
                    <a:pt x="3237230" y="2512568"/>
                    <a:pt x="2512568" y="3237230"/>
                    <a:pt x="1618615" y="3237230"/>
                  </a:cubicBezTo>
                  <a:cubicBezTo>
                    <a:pt x="724662" y="3237230"/>
                    <a:pt x="0" y="2512568"/>
                    <a:pt x="0" y="1618615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3268980" cy="3268980"/>
            </a:xfrm>
            <a:custGeom>
              <a:avLst/>
              <a:gdLst/>
              <a:ahLst/>
              <a:cxnLst/>
              <a:rect l="l" t="t" r="r" b="b"/>
              <a:pathLst>
                <a:path w="3268980" h="3268980">
                  <a:moveTo>
                    <a:pt x="0" y="1634490"/>
                  </a:moveTo>
                  <a:cubicBezTo>
                    <a:pt x="0" y="731774"/>
                    <a:pt x="731774" y="0"/>
                    <a:pt x="1634490" y="0"/>
                  </a:cubicBezTo>
                  <a:lnTo>
                    <a:pt x="1634490" y="15875"/>
                  </a:lnTo>
                  <a:lnTo>
                    <a:pt x="1634490" y="0"/>
                  </a:lnTo>
                  <a:cubicBezTo>
                    <a:pt x="2537206" y="0"/>
                    <a:pt x="3268980" y="731774"/>
                    <a:pt x="3268980" y="1634490"/>
                  </a:cubicBezTo>
                  <a:cubicBezTo>
                    <a:pt x="3268980" y="2537206"/>
                    <a:pt x="2537206" y="3268980"/>
                    <a:pt x="1634490" y="3268980"/>
                  </a:cubicBezTo>
                  <a:lnTo>
                    <a:pt x="1634490" y="3253105"/>
                  </a:lnTo>
                  <a:lnTo>
                    <a:pt x="1634490" y="3268980"/>
                  </a:lnTo>
                  <a:cubicBezTo>
                    <a:pt x="731774" y="3268980"/>
                    <a:pt x="0" y="2537206"/>
                    <a:pt x="0" y="1634490"/>
                  </a:cubicBezTo>
                  <a:lnTo>
                    <a:pt x="15875" y="1634490"/>
                  </a:lnTo>
                  <a:lnTo>
                    <a:pt x="29210" y="1642999"/>
                  </a:lnTo>
                  <a:cubicBezTo>
                    <a:pt x="25400" y="1648968"/>
                    <a:pt x="18161" y="1651635"/>
                    <a:pt x="11430" y="1649730"/>
                  </a:cubicBezTo>
                  <a:cubicBezTo>
                    <a:pt x="4699" y="1647825"/>
                    <a:pt x="0" y="1641602"/>
                    <a:pt x="0" y="1634490"/>
                  </a:cubicBezTo>
                  <a:moveTo>
                    <a:pt x="31750" y="1634490"/>
                  </a:moveTo>
                  <a:lnTo>
                    <a:pt x="15875" y="1634490"/>
                  </a:lnTo>
                  <a:lnTo>
                    <a:pt x="2540" y="1625854"/>
                  </a:lnTo>
                  <a:cubicBezTo>
                    <a:pt x="6350" y="1619885"/>
                    <a:pt x="13589" y="1617218"/>
                    <a:pt x="20320" y="1619123"/>
                  </a:cubicBezTo>
                  <a:cubicBezTo>
                    <a:pt x="27051" y="1621028"/>
                    <a:pt x="31750" y="1627251"/>
                    <a:pt x="31750" y="1634363"/>
                  </a:cubicBezTo>
                  <a:cubicBezTo>
                    <a:pt x="31750" y="2519553"/>
                    <a:pt x="749300" y="3237103"/>
                    <a:pt x="1634490" y="3237103"/>
                  </a:cubicBezTo>
                  <a:cubicBezTo>
                    <a:pt x="2519680" y="3237103"/>
                    <a:pt x="3237230" y="2519553"/>
                    <a:pt x="3237230" y="1634363"/>
                  </a:cubicBezTo>
                  <a:lnTo>
                    <a:pt x="3253105" y="1634363"/>
                  </a:lnTo>
                  <a:lnTo>
                    <a:pt x="3237230" y="1634363"/>
                  </a:lnTo>
                  <a:cubicBezTo>
                    <a:pt x="3237230" y="749300"/>
                    <a:pt x="2519680" y="31750"/>
                    <a:pt x="1634490" y="31750"/>
                  </a:cubicBezTo>
                  <a:lnTo>
                    <a:pt x="1634490" y="15875"/>
                  </a:lnTo>
                  <a:lnTo>
                    <a:pt x="1634490" y="31750"/>
                  </a:lnTo>
                  <a:cubicBezTo>
                    <a:pt x="749300" y="31750"/>
                    <a:pt x="31750" y="749300"/>
                    <a:pt x="31750" y="1634490"/>
                  </a:cubicBezTo>
                  <a:close/>
                </a:path>
              </a:pathLst>
            </a:custGeom>
            <a:solidFill>
              <a:srgbClr val="6A6E5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436752" y="2169496"/>
            <a:ext cx="937717" cy="937542"/>
            <a:chOff x="0" y="0"/>
            <a:chExt cx="2344292" cy="23438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44292" cy="2343854"/>
            </a:xfrm>
            <a:custGeom>
              <a:avLst/>
              <a:gdLst/>
              <a:ahLst/>
              <a:cxnLst/>
              <a:rect l="l" t="t" r="r" b="b"/>
              <a:pathLst>
                <a:path w="2344292" h="2343854">
                  <a:moveTo>
                    <a:pt x="0" y="0"/>
                  </a:moveTo>
                  <a:lnTo>
                    <a:pt x="2344292" y="0"/>
                  </a:lnTo>
                  <a:lnTo>
                    <a:pt x="2344292" y="2343854"/>
                  </a:lnTo>
                  <a:lnTo>
                    <a:pt x="0" y="23438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344292" cy="23533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36"/>
                </a:lnSpc>
              </a:pPr>
              <a:r>
                <a:rPr lang="en-US" sz="960" dirty="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Testing and Generalization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 rot="2700000">
            <a:off x="6771358" y="1938296"/>
            <a:ext cx="1399696" cy="1399696"/>
            <a:chOff x="0" y="0"/>
            <a:chExt cx="3499240" cy="3499240"/>
          </a:xfrm>
        </p:grpSpPr>
        <p:sp>
          <p:nvSpPr>
            <p:cNvPr id="18" name="Freeform 18"/>
            <p:cNvSpPr/>
            <p:nvPr/>
          </p:nvSpPr>
          <p:spPr>
            <a:xfrm>
              <a:off x="15875" y="15875"/>
              <a:ext cx="3467608" cy="3467608"/>
            </a:xfrm>
            <a:custGeom>
              <a:avLst/>
              <a:gdLst/>
              <a:ahLst/>
              <a:cxnLst/>
              <a:rect l="l" t="t" r="r" b="b"/>
              <a:pathLst>
                <a:path w="3467608" h="3467608">
                  <a:moveTo>
                    <a:pt x="0" y="1733804"/>
                  </a:moveTo>
                  <a:cubicBezTo>
                    <a:pt x="0" y="776224"/>
                    <a:pt x="776224" y="0"/>
                    <a:pt x="1733804" y="0"/>
                  </a:cubicBezTo>
                  <a:cubicBezTo>
                    <a:pt x="2311781" y="0"/>
                    <a:pt x="2889631" y="0"/>
                    <a:pt x="3467608" y="0"/>
                  </a:cubicBezTo>
                  <a:cubicBezTo>
                    <a:pt x="3467608" y="577977"/>
                    <a:pt x="3467608" y="1155827"/>
                    <a:pt x="3467608" y="1733804"/>
                  </a:cubicBezTo>
                  <a:cubicBezTo>
                    <a:pt x="3467608" y="2691384"/>
                    <a:pt x="2691384" y="3467608"/>
                    <a:pt x="1733804" y="3467608"/>
                  </a:cubicBezTo>
                  <a:cubicBezTo>
                    <a:pt x="776224" y="3467608"/>
                    <a:pt x="0" y="2691257"/>
                    <a:pt x="0" y="1733804"/>
                  </a:cubicBezTo>
                  <a:close/>
                </a:path>
              </a:pathLst>
            </a:custGeom>
            <a:solidFill>
              <a:srgbClr val="8A9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3499358" cy="3499358"/>
            </a:xfrm>
            <a:custGeom>
              <a:avLst/>
              <a:gdLst/>
              <a:ahLst/>
              <a:cxnLst/>
              <a:rect l="l" t="t" r="r" b="b"/>
              <a:pathLst>
                <a:path w="3499358" h="3499358">
                  <a:moveTo>
                    <a:pt x="0" y="1749679"/>
                  </a:moveTo>
                  <a:cubicBezTo>
                    <a:pt x="0" y="783336"/>
                    <a:pt x="783336" y="0"/>
                    <a:pt x="1749679" y="0"/>
                  </a:cubicBezTo>
                  <a:lnTo>
                    <a:pt x="2616581" y="0"/>
                  </a:lnTo>
                  <a:lnTo>
                    <a:pt x="3483483" y="0"/>
                  </a:lnTo>
                  <a:cubicBezTo>
                    <a:pt x="3492246" y="0"/>
                    <a:pt x="3499358" y="7112"/>
                    <a:pt x="3499358" y="15875"/>
                  </a:cubicBezTo>
                  <a:lnTo>
                    <a:pt x="3499358" y="1749679"/>
                  </a:lnTo>
                  <a:lnTo>
                    <a:pt x="3483483" y="1749679"/>
                  </a:lnTo>
                  <a:lnTo>
                    <a:pt x="3499358" y="1749679"/>
                  </a:lnTo>
                  <a:cubicBezTo>
                    <a:pt x="3499358" y="2716022"/>
                    <a:pt x="2716022" y="3499358"/>
                    <a:pt x="1749679" y="3499358"/>
                  </a:cubicBezTo>
                  <a:lnTo>
                    <a:pt x="1749679" y="3483483"/>
                  </a:lnTo>
                  <a:lnTo>
                    <a:pt x="1749679" y="3499358"/>
                  </a:lnTo>
                  <a:cubicBezTo>
                    <a:pt x="783336" y="3499231"/>
                    <a:pt x="0" y="2715895"/>
                    <a:pt x="0" y="1749679"/>
                  </a:cubicBezTo>
                  <a:lnTo>
                    <a:pt x="15875" y="1749679"/>
                  </a:lnTo>
                  <a:lnTo>
                    <a:pt x="0" y="1749679"/>
                  </a:lnTo>
                  <a:moveTo>
                    <a:pt x="31750" y="1749679"/>
                  </a:moveTo>
                  <a:lnTo>
                    <a:pt x="15875" y="1749679"/>
                  </a:lnTo>
                  <a:lnTo>
                    <a:pt x="31750" y="1749679"/>
                  </a:lnTo>
                  <a:cubicBezTo>
                    <a:pt x="31750" y="2698369"/>
                    <a:pt x="800862" y="3467608"/>
                    <a:pt x="1749679" y="3467608"/>
                  </a:cubicBezTo>
                  <a:cubicBezTo>
                    <a:pt x="2698496" y="3467608"/>
                    <a:pt x="3467608" y="2698496"/>
                    <a:pt x="3467608" y="1749679"/>
                  </a:cubicBezTo>
                  <a:lnTo>
                    <a:pt x="3467608" y="15875"/>
                  </a:lnTo>
                  <a:lnTo>
                    <a:pt x="3483483" y="15875"/>
                  </a:lnTo>
                  <a:lnTo>
                    <a:pt x="3483483" y="31750"/>
                  </a:lnTo>
                  <a:lnTo>
                    <a:pt x="2616454" y="31750"/>
                  </a:lnTo>
                  <a:lnTo>
                    <a:pt x="1749679" y="31750"/>
                  </a:lnTo>
                  <a:lnTo>
                    <a:pt x="1749679" y="15875"/>
                  </a:lnTo>
                  <a:lnTo>
                    <a:pt x="1749679" y="31750"/>
                  </a:lnTo>
                  <a:cubicBezTo>
                    <a:pt x="800862" y="31750"/>
                    <a:pt x="31750" y="800862"/>
                    <a:pt x="31750" y="174967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18525" y="1984479"/>
            <a:ext cx="1307577" cy="1307575"/>
            <a:chOff x="0" y="0"/>
            <a:chExt cx="3268942" cy="3268938"/>
          </a:xfrm>
        </p:grpSpPr>
        <p:sp>
          <p:nvSpPr>
            <p:cNvPr id="21" name="Freeform 21"/>
            <p:cNvSpPr/>
            <p:nvPr/>
          </p:nvSpPr>
          <p:spPr>
            <a:xfrm>
              <a:off x="15875" y="15875"/>
              <a:ext cx="3237230" cy="3237230"/>
            </a:xfrm>
            <a:custGeom>
              <a:avLst/>
              <a:gdLst/>
              <a:ahLst/>
              <a:cxnLst/>
              <a:rect l="l" t="t" r="r" b="b"/>
              <a:pathLst>
                <a:path w="3237230" h="3237230">
                  <a:moveTo>
                    <a:pt x="0" y="1618615"/>
                  </a:moveTo>
                  <a:cubicBezTo>
                    <a:pt x="0" y="724662"/>
                    <a:pt x="724662" y="0"/>
                    <a:pt x="1618615" y="0"/>
                  </a:cubicBezTo>
                  <a:cubicBezTo>
                    <a:pt x="2512568" y="0"/>
                    <a:pt x="3237230" y="724662"/>
                    <a:pt x="3237230" y="1618615"/>
                  </a:cubicBezTo>
                  <a:cubicBezTo>
                    <a:pt x="3237230" y="2512568"/>
                    <a:pt x="2512568" y="3237230"/>
                    <a:pt x="1618615" y="3237230"/>
                  </a:cubicBezTo>
                  <a:cubicBezTo>
                    <a:pt x="724662" y="3237230"/>
                    <a:pt x="0" y="2512568"/>
                    <a:pt x="0" y="1618615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3268980" cy="3268980"/>
            </a:xfrm>
            <a:custGeom>
              <a:avLst/>
              <a:gdLst/>
              <a:ahLst/>
              <a:cxnLst/>
              <a:rect l="l" t="t" r="r" b="b"/>
              <a:pathLst>
                <a:path w="3268980" h="3268980">
                  <a:moveTo>
                    <a:pt x="0" y="1634490"/>
                  </a:moveTo>
                  <a:cubicBezTo>
                    <a:pt x="0" y="731774"/>
                    <a:pt x="731774" y="0"/>
                    <a:pt x="1634490" y="0"/>
                  </a:cubicBezTo>
                  <a:lnTo>
                    <a:pt x="1634490" y="15875"/>
                  </a:lnTo>
                  <a:lnTo>
                    <a:pt x="1634490" y="0"/>
                  </a:lnTo>
                  <a:cubicBezTo>
                    <a:pt x="2537206" y="0"/>
                    <a:pt x="3268980" y="731774"/>
                    <a:pt x="3268980" y="1634490"/>
                  </a:cubicBezTo>
                  <a:cubicBezTo>
                    <a:pt x="3268980" y="2537206"/>
                    <a:pt x="2537206" y="3268980"/>
                    <a:pt x="1634490" y="3268980"/>
                  </a:cubicBezTo>
                  <a:lnTo>
                    <a:pt x="1634490" y="3253105"/>
                  </a:lnTo>
                  <a:lnTo>
                    <a:pt x="1634490" y="3268980"/>
                  </a:lnTo>
                  <a:cubicBezTo>
                    <a:pt x="731774" y="3268980"/>
                    <a:pt x="0" y="2537206"/>
                    <a:pt x="0" y="1634490"/>
                  </a:cubicBezTo>
                  <a:lnTo>
                    <a:pt x="15875" y="1634490"/>
                  </a:lnTo>
                  <a:lnTo>
                    <a:pt x="29210" y="1642999"/>
                  </a:lnTo>
                  <a:cubicBezTo>
                    <a:pt x="25400" y="1648968"/>
                    <a:pt x="18161" y="1651635"/>
                    <a:pt x="11430" y="1649730"/>
                  </a:cubicBezTo>
                  <a:cubicBezTo>
                    <a:pt x="4699" y="1647825"/>
                    <a:pt x="0" y="1641602"/>
                    <a:pt x="0" y="1634490"/>
                  </a:cubicBezTo>
                  <a:moveTo>
                    <a:pt x="31750" y="1634490"/>
                  </a:moveTo>
                  <a:lnTo>
                    <a:pt x="15875" y="1634490"/>
                  </a:lnTo>
                  <a:lnTo>
                    <a:pt x="2540" y="1625854"/>
                  </a:lnTo>
                  <a:cubicBezTo>
                    <a:pt x="6350" y="1619885"/>
                    <a:pt x="13589" y="1617218"/>
                    <a:pt x="20320" y="1619123"/>
                  </a:cubicBezTo>
                  <a:cubicBezTo>
                    <a:pt x="27051" y="1621028"/>
                    <a:pt x="31750" y="1627251"/>
                    <a:pt x="31750" y="1634363"/>
                  </a:cubicBezTo>
                  <a:cubicBezTo>
                    <a:pt x="31750" y="2519553"/>
                    <a:pt x="749300" y="3237103"/>
                    <a:pt x="1634490" y="3237103"/>
                  </a:cubicBezTo>
                  <a:cubicBezTo>
                    <a:pt x="2519680" y="3237103"/>
                    <a:pt x="3237230" y="2519553"/>
                    <a:pt x="3237230" y="1634363"/>
                  </a:cubicBezTo>
                  <a:lnTo>
                    <a:pt x="3253105" y="1634363"/>
                  </a:lnTo>
                  <a:lnTo>
                    <a:pt x="3237230" y="1634363"/>
                  </a:lnTo>
                  <a:cubicBezTo>
                    <a:pt x="3237230" y="749300"/>
                    <a:pt x="2519680" y="31750"/>
                    <a:pt x="1634490" y="31750"/>
                  </a:cubicBezTo>
                  <a:lnTo>
                    <a:pt x="1634490" y="15875"/>
                  </a:lnTo>
                  <a:lnTo>
                    <a:pt x="1634490" y="31750"/>
                  </a:lnTo>
                  <a:cubicBezTo>
                    <a:pt x="749300" y="31750"/>
                    <a:pt x="31750" y="749300"/>
                    <a:pt x="31750" y="1634490"/>
                  </a:cubicBezTo>
                  <a:close/>
                </a:path>
              </a:pathLst>
            </a:custGeom>
            <a:solidFill>
              <a:srgbClr val="8A988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03086" y="2169496"/>
            <a:ext cx="937717" cy="937542"/>
            <a:chOff x="0" y="0"/>
            <a:chExt cx="2344292" cy="23438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44292" cy="2343854"/>
            </a:xfrm>
            <a:custGeom>
              <a:avLst/>
              <a:gdLst/>
              <a:ahLst/>
              <a:cxnLst/>
              <a:rect l="l" t="t" r="r" b="b"/>
              <a:pathLst>
                <a:path w="2344292" h="2343854">
                  <a:moveTo>
                    <a:pt x="0" y="0"/>
                  </a:moveTo>
                  <a:lnTo>
                    <a:pt x="2344292" y="0"/>
                  </a:lnTo>
                  <a:lnTo>
                    <a:pt x="2344292" y="2343854"/>
                  </a:lnTo>
                  <a:lnTo>
                    <a:pt x="0" y="23438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344292" cy="23533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36"/>
                </a:lnSpc>
              </a:pPr>
              <a:r>
                <a:rPr lang="en-US" sz="96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Hyperparameter Tuning &amp; Optimization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 rot="2700000">
            <a:off x="5338430" y="1938296"/>
            <a:ext cx="1399696" cy="1399696"/>
            <a:chOff x="0" y="0"/>
            <a:chExt cx="3499240" cy="3499240"/>
          </a:xfrm>
        </p:grpSpPr>
        <p:sp>
          <p:nvSpPr>
            <p:cNvPr id="27" name="Freeform 27"/>
            <p:cNvSpPr/>
            <p:nvPr/>
          </p:nvSpPr>
          <p:spPr>
            <a:xfrm>
              <a:off x="15875" y="15875"/>
              <a:ext cx="3467608" cy="3467608"/>
            </a:xfrm>
            <a:custGeom>
              <a:avLst/>
              <a:gdLst/>
              <a:ahLst/>
              <a:cxnLst/>
              <a:rect l="l" t="t" r="r" b="b"/>
              <a:pathLst>
                <a:path w="3467608" h="3467608">
                  <a:moveTo>
                    <a:pt x="0" y="1733804"/>
                  </a:moveTo>
                  <a:cubicBezTo>
                    <a:pt x="0" y="776224"/>
                    <a:pt x="776224" y="0"/>
                    <a:pt x="1733804" y="0"/>
                  </a:cubicBezTo>
                  <a:cubicBezTo>
                    <a:pt x="2311781" y="0"/>
                    <a:pt x="2889631" y="0"/>
                    <a:pt x="3467608" y="0"/>
                  </a:cubicBezTo>
                  <a:cubicBezTo>
                    <a:pt x="3467608" y="577977"/>
                    <a:pt x="3467608" y="1155827"/>
                    <a:pt x="3467608" y="1733804"/>
                  </a:cubicBezTo>
                  <a:cubicBezTo>
                    <a:pt x="3467608" y="2691384"/>
                    <a:pt x="2691384" y="3467608"/>
                    <a:pt x="1733804" y="3467608"/>
                  </a:cubicBezTo>
                  <a:cubicBezTo>
                    <a:pt x="776224" y="3467608"/>
                    <a:pt x="0" y="2691257"/>
                    <a:pt x="0" y="1733804"/>
                  </a:cubicBezTo>
                  <a:close/>
                </a:path>
              </a:pathLst>
            </a:custGeom>
            <a:solidFill>
              <a:srgbClr val="AEBCA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3499358" cy="3499358"/>
            </a:xfrm>
            <a:custGeom>
              <a:avLst/>
              <a:gdLst/>
              <a:ahLst/>
              <a:cxnLst/>
              <a:rect l="l" t="t" r="r" b="b"/>
              <a:pathLst>
                <a:path w="3499358" h="3499358">
                  <a:moveTo>
                    <a:pt x="0" y="1749679"/>
                  </a:moveTo>
                  <a:cubicBezTo>
                    <a:pt x="0" y="783336"/>
                    <a:pt x="783336" y="0"/>
                    <a:pt x="1749679" y="0"/>
                  </a:cubicBezTo>
                  <a:lnTo>
                    <a:pt x="2616581" y="0"/>
                  </a:lnTo>
                  <a:lnTo>
                    <a:pt x="3483483" y="0"/>
                  </a:lnTo>
                  <a:cubicBezTo>
                    <a:pt x="3492246" y="0"/>
                    <a:pt x="3499358" y="7112"/>
                    <a:pt x="3499358" y="15875"/>
                  </a:cubicBezTo>
                  <a:lnTo>
                    <a:pt x="3499358" y="1749679"/>
                  </a:lnTo>
                  <a:lnTo>
                    <a:pt x="3483483" y="1749679"/>
                  </a:lnTo>
                  <a:lnTo>
                    <a:pt x="3499358" y="1749679"/>
                  </a:lnTo>
                  <a:cubicBezTo>
                    <a:pt x="3499358" y="2716022"/>
                    <a:pt x="2716022" y="3499358"/>
                    <a:pt x="1749679" y="3499358"/>
                  </a:cubicBezTo>
                  <a:lnTo>
                    <a:pt x="1749679" y="3483483"/>
                  </a:lnTo>
                  <a:lnTo>
                    <a:pt x="1749679" y="3499358"/>
                  </a:lnTo>
                  <a:cubicBezTo>
                    <a:pt x="783336" y="3499231"/>
                    <a:pt x="0" y="2715895"/>
                    <a:pt x="0" y="1749679"/>
                  </a:cubicBezTo>
                  <a:lnTo>
                    <a:pt x="15875" y="1749679"/>
                  </a:lnTo>
                  <a:lnTo>
                    <a:pt x="0" y="1749679"/>
                  </a:lnTo>
                  <a:moveTo>
                    <a:pt x="31750" y="1749679"/>
                  </a:moveTo>
                  <a:lnTo>
                    <a:pt x="15875" y="1749679"/>
                  </a:lnTo>
                  <a:lnTo>
                    <a:pt x="31750" y="1749679"/>
                  </a:lnTo>
                  <a:cubicBezTo>
                    <a:pt x="31750" y="2698369"/>
                    <a:pt x="800862" y="3467608"/>
                    <a:pt x="1749679" y="3467608"/>
                  </a:cubicBezTo>
                  <a:cubicBezTo>
                    <a:pt x="2698496" y="3467608"/>
                    <a:pt x="3467608" y="2698496"/>
                    <a:pt x="3467608" y="1749679"/>
                  </a:cubicBezTo>
                  <a:lnTo>
                    <a:pt x="3467608" y="15875"/>
                  </a:lnTo>
                  <a:lnTo>
                    <a:pt x="3483483" y="15875"/>
                  </a:lnTo>
                  <a:lnTo>
                    <a:pt x="3483483" y="31750"/>
                  </a:lnTo>
                  <a:lnTo>
                    <a:pt x="2616454" y="31750"/>
                  </a:lnTo>
                  <a:lnTo>
                    <a:pt x="1749679" y="31750"/>
                  </a:lnTo>
                  <a:lnTo>
                    <a:pt x="1749679" y="15875"/>
                  </a:lnTo>
                  <a:lnTo>
                    <a:pt x="1749679" y="31750"/>
                  </a:lnTo>
                  <a:cubicBezTo>
                    <a:pt x="800862" y="31750"/>
                    <a:pt x="31750" y="800862"/>
                    <a:pt x="31750" y="174967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84859" y="1984479"/>
            <a:ext cx="1307577" cy="1307575"/>
            <a:chOff x="0" y="0"/>
            <a:chExt cx="3268942" cy="3268938"/>
          </a:xfrm>
        </p:grpSpPr>
        <p:sp>
          <p:nvSpPr>
            <p:cNvPr id="30" name="Freeform 30"/>
            <p:cNvSpPr/>
            <p:nvPr/>
          </p:nvSpPr>
          <p:spPr>
            <a:xfrm>
              <a:off x="15875" y="15875"/>
              <a:ext cx="3237230" cy="3237230"/>
            </a:xfrm>
            <a:custGeom>
              <a:avLst/>
              <a:gdLst/>
              <a:ahLst/>
              <a:cxnLst/>
              <a:rect l="l" t="t" r="r" b="b"/>
              <a:pathLst>
                <a:path w="3237230" h="3237230">
                  <a:moveTo>
                    <a:pt x="0" y="1618615"/>
                  </a:moveTo>
                  <a:cubicBezTo>
                    <a:pt x="0" y="724662"/>
                    <a:pt x="724662" y="0"/>
                    <a:pt x="1618615" y="0"/>
                  </a:cubicBezTo>
                  <a:cubicBezTo>
                    <a:pt x="2512568" y="0"/>
                    <a:pt x="3237230" y="724662"/>
                    <a:pt x="3237230" y="1618615"/>
                  </a:cubicBezTo>
                  <a:cubicBezTo>
                    <a:pt x="3237230" y="2512568"/>
                    <a:pt x="2512568" y="3237230"/>
                    <a:pt x="1618615" y="3237230"/>
                  </a:cubicBezTo>
                  <a:cubicBezTo>
                    <a:pt x="724662" y="3237230"/>
                    <a:pt x="0" y="2512568"/>
                    <a:pt x="0" y="1618615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3268980" cy="3268980"/>
            </a:xfrm>
            <a:custGeom>
              <a:avLst/>
              <a:gdLst/>
              <a:ahLst/>
              <a:cxnLst/>
              <a:rect l="l" t="t" r="r" b="b"/>
              <a:pathLst>
                <a:path w="3268980" h="3268980">
                  <a:moveTo>
                    <a:pt x="0" y="1634490"/>
                  </a:moveTo>
                  <a:cubicBezTo>
                    <a:pt x="0" y="731774"/>
                    <a:pt x="731774" y="0"/>
                    <a:pt x="1634490" y="0"/>
                  </a:cubicBezTo>
                  <a:lnTo>
                    <a:pt x="1634490" y="15875"/>
                  </a:lnTo>
                  <a:lnTo>
                    <a:pt x="1634490" y="0"/>
                  </a:lnTo>
                  <a:cubicBezTo>
                    <a:pt x="2537206" y="0"/>
                    <a:pt x="3268980" y="731774"/>
                    <a:pt x="3268980" y="1634490"/>
                  </a:cubicBezTo>
                  <a:cubicBezTo>
                    <a:pt x="3268980" y="2537206"/>
                    <a:pt x="2537206" y="3268980"/>
                    <a:pt x="1634490" y="3268980"/>
                  </a:cubicBezTo>
                  <a:lnTo>
                    <a:pt x="1634490" y="3253105"/>
                  </a:lnTo>
                  <a:lnTo>
                    <a:pt x="1634490" y="3268980"/>
                  </a:lnTo>
                  <a:cubicBezTo>
                    <a:pt x="731774" y="3268980"/>
                    <a:pt x="0" y="2537206"/>
                    <a:pt x="0" y="1634490"/>
                  </a:cubicBezTo>
                  <a:lnTo>
                    <a:pt x="15875" y="1634490"/>
                  </a:lnTo>
                  <a:lnTo>
                    <a:pt x="29210" y="1642999"/>
                  </a:lnTo>
                  <a:cubicBezTo>
                    <a:pt x="25400" y="1648968"/>
                    <a:pt x="18161" y="1651635"/>
                    <a:pt x="11430" y="1649730"/>
                  </a:cubicBezTo>
                  <a:cubicBezTo>
                    <a:pt x="4699" y="1647825"/>
                    <a:pt x="0" y="1641602"/>
                    <a:pt x="0" y="1634490"/>
                  </a:cubicBezTo>
                  <a:moveTo>
                    <a:pt x="31750" y="1634490"/>
                  </a:moveTo>
                  <a:lnTo>
                    <a:pt x="15875" y="1634490"/>
                  </a:lnTo>
                  <a:lnTo>
                    <a:pt x="2540" y="1625854"/>
                  </a:lnTo>
                  <a:cubicBezTo>
                    <a:pt x="6350" y="1619885"/>
                    <a:pt x="13589" y="1617218"/>
                    <a:pt x="20320" y="1619123"/>
                  </a:cubicBezTo>
                  <a:cubicBezTo>
                    <a:pt x="27051" y="1621028"/>
                    <a:pt x="31750" y="1627251"/>
                    <a:pt x="31750" y="1634363"/>
                  </a:cubicBezTo>
                  <a:cubicBezTo>
                    <a:pt x="31750" y="2519553"/>
                    <a:pt x="749300" y="3237103"/>
                    <a:pt x="1634490" y="3237103"/>
                  </a:cubicBezTo>
                  <a:cubicBezTo>
                    <a:pt x="2519680" y="3237103"/>
                    <a:pt x="3237230" y="2519553"/>
                    <a:pt x="3237230" y="1634363"/>
                  </a:cubicBezTo>
                  <a:lnTo>
                    <a:pt x="3253105" y="1634363"/>
                  </a:lnTo>
                  <a:lnTo>
                    <a:pt x="3237230" y="1634363"/>
                  </a:lnTo>
                  <a:cubicBezTo>
                    <a:pt x="3237230" y="749300"/>
                    <a:pt x="2519680" y="31750"/>
                    <a:pt x="1634490" y="31750"/>
                  </a:cubicBezTo>
                  <a:lnTo>
                    <a:pt x="1634490" y="15875"/>
                  </a:lnTo>
                  <a:lnTo>
                    <a:pt x="1634490" y="31750"/>
                  </a:lnTo>
                  <a:cubicBezTo>
                    <a:pt x="749300" y="31750"/>
                    <a:pt x="31750" y="749300"/>
                    <a:pt x="31750" y="1634490"/>
                  </a:cubicBezTo>
                  <a:close/>
                </a:path>
              </a:pathLst>
            </a:custGeom>
            <a:solidFill>
              <a:srgbClr val="AEBCA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569420" y="2169496"/>
            <a:ext cx="937717" cy="937542"/>
            <a:chOff x="0" y="0"/>
            <a:chExt cx="2344292" cy="234385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344292" cy="2343854"/>
            </a:xfrm>
            <a:custGeom>
              <a:avLst/>
              <a:gdLst/>
              <a:ahLst/>
              <a:cxnLst/>
              <a:rect l="l" t="t" r="r" b="b"/>
              <a:pathLst>
                <a:path w="2344292" h="2343854">
                  <a:moveTo>
                    <a:pt x="0" y="0"/>
                  </a:moveTo>
                  <a:lnTo>
                    <a:pt x="2344292" y="0"/>
                  </a:lnTo>
                  <a:lnTo>
                    <a:pt x="2344292" y="2343854"/>
                  </a:lnTo>
                  <a:lnTo>
                    <a:pt x="0" y="23438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2344292" cy="23533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36"/>
                </a:lnSpc>
              </a:pPr>
              <a:r>
                <a:rPr lang="en-US" sz="96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Model Development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 rot="2700000">
            <a:off x="3904764" y="1938296"/>
            <a:ext cx="1399696" cy="1399696"/>
            <a:chOff x="0" y="0"/>
            <a:chExt cx="3499240" cy="3499240"/>
          </a:xfrm>
        </p:grpSpPr>
        <p:sp>
          <p:nvSpPr>
            <p:cNvPr id="36" name="Freeform 36"/>
            <p:cNvSpPr/>
            <p:nvPr/>
          </p:nvSpPr>
          <p:spPr>
            <a:xfrm>
              <a:off x="15875" y="15875"/>
              <a:ext cx="3467608" cy="3467608"/>
            </a:xfrm>
            <a:custGeom>
              <a:avLst/>
              <a:gdLst/>
              <a:ahLst/>
              <a:cxnLst/>
              <a:rect l="l" t="t" r="r" b="b"/>
              <a:pathLst>
                <a:path w="3467608" h="3467608">
                  <a:moveTo>
                    <a:pt x="0" y="1733804"/>
                  </a:moveTo>
                  <a:cubicBezTo>
                    <a:pt x="0" y="776224"/>
                    <a:pt x="776224" y="0"/>
                    <a:pt x="1733804" y="0"/>
                  </a:cubicBezTo>
                  <a:cubicBezTo>
                    <a:pt x="2311781" y="0"/>
                    <a:pt x="2889631" y="0"/>
                    <a:pt x="3467608" y="0"/>
                  </a:cubicBezTo>
                  <a:cubicBezTo>
                    <a:pt x="3467608" y="577977"/>
                    <a:pt x="3467608" y="1155827"/>
                    <a:pt x="3467608" y="1733804"/>
                  </a:cubicBezTo>
                  <a:cubicBezTo>
                    <a:pt x="3467608" y="2691384"/>
                    <a:pt x="2691384" y="3467608"/>
                    <a:pt x="1733804" y="3467608"/>
                  </a:cubicBezTo>
                  <a:cubicBezTo>
                    <a:pt x="776224" y="3467608"/>
                    <a:pt x="0" y="2691257"/>
                    <a:pt x="0" y="1733804"/>
                  </a:cubicBezTo>
                  <a:close/>
                </a:path>
              </a:pathLst>
            </a:custGeom>
            <a:solidFill>
              <a:srgbClr val="AEBCA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3499358" cy="3499358"/>
            </a:xfrm>
            <a:custGeom>
              <a:avLst/>
              <a:gdLst/>
              <a:ahLst/>
              <a:cxnLst/>
              <a:rect l="l" t="t" r="r" b="b"/>
              <a:pathLst>
                <a:path w="3499358" h="3499358">
                  <a:moveTo>
                    <a:pt x="0" y="1749679"/>
                  </a:moveTo>
                  <a:cubicBezTo>
                    <a:pt x="0" y="783336"/>
                    <a:pt x="783336" y="0"/>
                    <a:pt x="1749679" y="0"/>
                  </a:cubicBezTo>
                  <a:lnTo>
                    <a:pt x="2616581" y="0"/>
                  </a:lnTo>
                  <a:lnTo>
                    <a:pt x="3483483" y="0"/>
                  </a:lnTo>
                  <a:cubicBezTo>
                    <a:pt x="3492246" y="0"/>
                    <a:pt x="3499358" y="7112"/>
                    <a:pt x="3499358" y="15875"/>
                  </a:cubicBezTo>
                  <a:lnTo>
                    <a:pt x="3499358" y="1749679"/>
                  </a:lnTo>
                  <a:lnTo>
                    <a:pt x="3483483" y="1749679"/>
                  </a:lnTo>
                  <a:lnTo>
                    <a:pt x="3499358" y="1749679"/>
                  </a:lnTo>
                  <a:cubicBezTo>
                    <a:pt x="3499358" y="2716022"/>
                    <a:pt x="2716022" y="3499358"/>
                    <a:pt x="1749679" y="3499358"/>
                  </a:cubicBezTo>
                  <a:lnTo>
                    <a:pt x="1749679" y="3483483"/>
                  </a:lnTo>
                  <a:lnTo>
                    <a:pt x="1749679" y="3499358"/>
                  </a:lnTo>
                  <a:cubicBezTo>
                    <a:pt x="783336" y="3499231"/>
                    <a:pt x="0" y="2715895"/>
                    <a:pt x="0" y="1749679"/>
                  </a:cubicBezTo>
                  <a:lnTo>
                    <a:pt x="15875" y="1749679"/>
                  </a:lnTo>
                  <a:lnTo>
                    <a:pt x="0" y="1749679"/>
                  </a:lnTo>
                  <a:moveTo>
                    <a:pt x="31750" y="1749679"/>
                  </a:moveTo>
                  <a:lnTo>
                    <a:pt x="15875" y="1749679"/>
                  </a:lnTo>
                  <a:lnTo>
                    <a:pt x="31750" y="1749679"/>
                  </a:lnTo>
                  <a:cubicBezTo>
                    <a:pt x="31750" y="2698369"/>
                    <a:pt x="800862" y="3467608"/>
                    <a:pt x="1749679" y="3467608"/>
                  </a:cubicBezTo>
                  <a:cubicBezTo>
                    <a:pt x="2698496" y="3467608"/>
                    <a:pt x="3467608" y="2698496"/>
                    <a:pt x="3467608" y="1749679"/>
                  </a:cubicBezTo>
                  <a:lnTo>
                    <a:pt x="3467608" y="15875"/>
                  </a:lnTo>
                  <a:lnTo>
                    <a:pt x="3483483" y="15875"/>
                  </a:lnTo>
                  <a:lnTo>
                    <a:pt x="3483483" y="31750"/>
                  </a:lnTo>
                  <a:lnTo>
                    <a:pt x="2616454" y="31750"/>
                  </a:lnTo>
                  <a:lnTo>
                    <a:pt x="1749679" y="31750"/>
                  </a:lnTo>
                  <a:lnTo>
                    <a:pt x="1749679" y="15875"/>
                  </a:lnTo>
                  <a:lnTo>
                    <a:pt x="1749679" y="31750"/>
                  </a:lnTo>
                  <a:cubicBezTo>
                    <a:pt x="800862" y="31750"/>
                    <a:pt x="31750" y="800862"/>
                    <a:pt x="31750" y="174967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951192" y="1984479"/>
            <a:ext cx="1307577" cy="1307575"/>
            <a:chOff x="0" y="0"/>
            <a:chExt cx="3268942" cy="3268938"/>
          </a:xfrm>
        </p:grpSpPr>
        <p:sp>
          <p:nvSpPr>
            <p:cNvPr id="39" name="Freeform 39"/>
            <p:cNvSpPr/>
            <p:nvPr/>
          </p:nvSpPr>
          <p:spPr>
            <a:xfrm>
              <a:off x="15875" y="15875"/>
              <a:ext cx="3237230" cy="3237230"/>
            </a:xfrm>
            <a:custGeom>
              <a:avLst/>
              <a:gdLst/>
              <a:ahLst/>
              <a:cxnLst/>
              <a:rect l="l" t="t" r="r" b="b"/>
              <a:pathLst>
                <a:path w="3237230" h="3237230">
                  <a:moveTo>
                    <a:pt x="0" y="1618615"/>
                  </a:moveTo>
                  <a:cubicBezTo>
                    <a:pt x="0" y="724662"/>
                    <a:pt x="724662" y="0"/>
                    <a:pt x="1618615" y="0"/>
                  </a:cubicBezTo>
                  <a:cubicBezTo>
                    <a:pt x="2512568" y="0"/>
                    <a:pt x="3237230" y="724662"/>
                    <a:pt x="3237230" y="1618615"/>
                  </a:cubicBezTo>
                  <a:cubicBezTo>
                    <a:pt x="3237230" y="2512568"/>
                    <a:pt x="2512568" y="3237230"/>
                    <a:pt x="1618615" y="3237230"/>
                  </a:cubicBezTo>
                  <a:cubicBezTo>
                    <a:pt x="724662" y="3237230"/>
                    <a:pt x="0" y="2512568"/>
                    <a:pt x="0" y="1618615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3268980" cy="3268980"/>
            </a:xfrm>
            <a:custGeom>
              <a:avLst/>
              <a:gdLst/>
              <a:ahLst/>
              <a:cxnLst/>
              <a:rect l="l" t="t" r="r" b="b"/>
              <a:pathLst>
                <a:path w="3268980" h="3268980">
                  <a:moveTo>
                    <a:pt x="0" y="1634490"/>
                  </a:moveTo>
                  <a:cubicBezTo>
                    <a:pt x="0" y="731774"/>
                    <a:pt x="731774" y="0"/>
                    <a:pt x="1634490" y="0"/>
                  </a:cubicBezTo>
                  <a:lnTo>
                    <a:pt x="1634490" y="15875"/>
                  </a:lnTo>
                  <a:lnTo>
                    <a:pt x="1634490" y="0"/>
                  </a:lnTo>
                  <a:cubicBezTo>
                    <a:pt x="2537206" y="0"/>
                    <a:pt x="3268980" y="731774"/>
                    <a:pt x="3268980" y="1634490"/>
                  </a:cubicBezTo>
                  <a:cubicBezTo>
                    <a:pt x="3268980" y="2537206"/>
                    <a:pt x="2537206" y="3268980"/>
                    <a:pt x="1634490" y="3268980"/>
                  </a:cubicBezTo>
                  <a:lnTo>
                    <a:pt x="1634490" y="3253105"/>
                  </a:lnTo>
                  <a:lnTo>
                    <a:pt x="1634490" y="3268980"/>
                  </a:lnTo>
                  <a:cubicBezTo>
                    <a:pt x="731774" y="3268980"/>
                    <a:pt x="0" y="2537206"/>
                    <a:pt x="0" y="1634490"/>
                  </a:cubicBezTo>
                  <a:lnTo>
                    <a:pt x="15875" y="1634490"/>
                  </a:lnTo>
                  <a:lnTo>
                    <a:pt x="29210" y="1642999"/>
                  </a:lnTo>
                  <a:cubicBezTo>
                    <a:pt x="25400" y="1648968"/>
                    <a:pt x="18161" y="1651635"/>
                    <a:pt x="11430" y="1649730"/>
                  </a:cubicBezTo>
                  <a:cubicBezTo>
                    <a:pt x="4699" y="1647825"/>
                    <a:pt x="0" y="1641602"/>
                    <a:pt x="0" y="1634490"/>
                  </a:cubicBezTo>
                  <a:moveTo>
                    <a:pt x="31750" y="1634490"/>
                  </a:moveTo>
                  <a:lnTo>
                    <a:pt x="15875" y="1634490"/>
                  </a:lnTo>
                  <a:lnTo>
                    <a:pt x="2540" y="1625854"/>
                  </a:lnTo>
                  <a:cubicBezTo>
                    <a:pt x="6350" y="1619885"/>
                    <a:pt x="13589" y="1617218"/>
                    <a:pt x="20320" y="1619123"/>
                  </a:cubicBezTo>
                  <a:cubicBezTo>
                    <a:pt x="27051" y="1621028"/>
                    <a:pt x="31750" y="1627251"/>
                    <a:pt x="31750" y="1634363"/>
                  </a:cubicBezTo>
                  <a:cubicBezTo>
                    <a:pt x="31750" y="2519553"/>
                    <a:pt x="749300" y="3237103"/>
                    <a:pt x="1634490" y="3237103"/>
                  </a:cubicBezTo>
                  <a:cubicBezTo>
                    <a:pt x="2519680" y="3237103"/>
                    <a:pt x="3237230" y="2519553"/>
                    <a:pt x="3237230" y="1634363"/>
                  </a:cubicBezTo>
                  <a:lnTo>
                    <a:pt x="3253105" y="1634363"/>
                  </a:lnTo>
                  <a:lnTo>
                    <a:pt x="3237230" y="1634363"/>
                  </a:lnTo>
                  <a:cubicBezTo>
                    <a:pt x="3237230" y="749300"/>
                    <a:pt x="2519680" y="31750"/>
                    <a:pt x="1634490" y="31750"/>
                  </a:cubicBezTo>
                  <a:lnTo>
                    <a:pt x="1634490" y="15875"/>
                  </a:lnTo>
                  <a:lnTo>
                    <a:pt x="1634490" y="31750"/>
                  </a:lnTo>
                  <a:cubicBezTo>
                    <a:pt x="749300" y="31750"/>
                    <a:pt x="31750" y="749300"/>
                    <a:pt x="31750" y="1634490"/>
                  </a:cubicBezTo>
                  <a:close/>
                </a:path>
              </a:pathLst>
            </a:custGeom>
            <a:solidFill>
              <a:srgbClr val="AEBCA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36491" y="2169496"/>
            <a:ext cx="937717" cy="937542"/>
            <a:chOff x="0" y="0"/>
            <a:chExt cx="2344292" cy="234385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344292" cy="2343854"/>
            </a:xfrm>
            <a:custGeom>
              <a:avLst/>
              <a:gdLst/>
              <a:ahLst/>
              <a:cxnLst/>
              <a:rect l="l" t="t" r="r" b="b"/>
              <a:pathLst>
                <a:path w="2344292" h="2343854">
                  <a:moveTo>
                    <a:pt x="0" y="0"/>
                  </a:moveTo>
                  <a:lnTo>
                    <a:pt x="2344292" y="0"/>
                  </a:lnTo>
                  <a:lnTo>
                    <a:pt x="2344292" y="2343854"/>
                  </a:lnTo>
                  <a:lnTo>
                    <a:pt x="0" y="23438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2344292" cy="23533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36"/>
                </a:lnSpc>
              </a:pPr>
              <a:r>
                <a:rPr lang="en-US" sz="96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Exploratory analysis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 rot="2700000">
            <a:off x="2471097" y="1938296"/>
            <a:ext cx="1399696" cy="1399696"/>
            <a:chOff x="0" y="0"/>
            <a:chExt cx="3499240" cy="3499240"/>
          </a:xfrm>
        </p:grpSpPr>
        <p:sp>
          <p:nvSpPr>
            <p:cNvPr id="45" name="Freeform 45"/>
            <p:cNvSpPr/>
            <p:nvPr/>
          </p:nvSpPr>
          <p:spPr>
            <a:xfrm>
              <a:off x="15875" y="15875"/>
              <a:ext cx="3467608" cy="3467608"/>
            </a:xfrm>
            <a:custGeom>
              <a:avLst/>
              <a:gdLst/>
              <a:ahLst/>
              <a:cxnLst/>
              <a:rect l="l" t="t" r="r" b="b"/>
              <a:pathLst>
                <a:path w="3467608" h="3467608">
                  <a:moveTo>
                    <a:pt x="0" y="1733804"/>
                  </a:moveTo>
                  <a:cubicBezTo>
                    <a:pt x="0" y="776224"/>
                    <a:pt x="776224" y="0"/>
                    <a:pt x="1733804" y="0"/>
                  </a:cubicBezTo>
                  <a:cubicBezTo>
                    <a:pt x="2311781" y="0"/>
                    <a:pt x="2889631" y="0"/>
                    <a:pt x="3467608" y="0"/>
                  </a:cubicBezTo>
                  <a:cubicBezTo>
                    <a:pt x="3467608" y="577977"/>
                    <a:pt x="3467608" y="1155827"/>
                    <a:pt x="3467608" y="1733804"/>
                  </a:cubicBezTo>
                  <a:cubicBezTo>
                    <a:pt x="3467608" y="2691384"/>
                    <a:pt x="2691384" y="3467608"/>
                    <a:pt x="1733804" y="3467608"/>
                  </a:cubicBezTo>
                  <a:cubicBezTo>
                    <a:pt x="776224" y="3467608"/>
                    <a:pt x="0" y="2691257"/>
                    <a:pt x="0" y="1733804"/>
                  </a:cubicBezTo>
                  <a:close/>
                </a:path>
              </a:pathLst>
            </a:custGeom>
            <a:solidFill>
              <a:srgbClr val="8A98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3499358" cy="3499358"/>
            </a:xfrm>
            <a:custGeom>
              <a:avLst/>
              <a:gdLst/>
              <a:ahLst/>
              <a:cxnLst/>
              <a:rect l="l" t="t" r="r" b="b"/>
              <a:pathLst>
                <a:path w="3499358" h="3499358">
                  <a:moveTo>
                    <a:pt x="0" y="1749679"/>
                  </a:moveTo>
                  <a:cubicBezTo>
                    <a:pt x="0" y="783336"/>
                    <a:pt x="783336" y="0"/>
                    <a:pt x="1749679" y="0"/>
                  </a:cubicBezTo>
                  <a:lnTo>
                    <a:pt x="2616581" y="0"/>
                  </a:lnTo>
                  <a:lnTo>
                    <a:pt x="3483483" y="0"/>
                  </a:lnTo>
                  <a:cubicBezTo>
                    <a:pt x="3492246" y="0"/>
                    <a:pt x="3499358" y="7112"/>
                    <a:pt x="3499358" y="15875"/>
                  </a:cubicBezTo>
                  <a:lnTo>
                    <a:pt x="3499358" y="1749679"/>
                  </a:lnTo>
                  <a:lnTo>
                    <a:pt x="3483483" y="1749679"/>
                  </a:lnTo>
                  <a:lnTo>
                    <a:pt x="3499358" y="1749679"/>
                  </a:lnTo>
                  <a:cubicBezTo>
                    <a:pt x="3499358" y="2716022"/>
                    <a:pt x="2716022" y="3499358"/>
                    <a:pt x="1749679" y="3499358"/>
                  </a:cubicBezTo>
                  <a:lnTo>
                    <a:pt x="1749679" y="3483483"/>
                  </a:lnTo>
                  <a:lnTo>
                    <a:pt x="1749679" y="3499358"/>
                  </a:lnTo>
                  <a:cubicBezTo>
                    <a:pt x="783336" y="3499231"/>
                    <a:pt x="0" y="2715895"/>
                    <a:pt x="0" y="1749679"/>
                  </a:cubicBezTo>
                  <a:lnTo>
                    <a:pt x="15875" y="1749679"/>
                  </a:lnTo>
                  <a:lnTo>
                    <a:pt x="0" y="1749679"/>
                  </a:lnTo>
                  <a:moveTo>
                    <a:pt x="31750" y="1749679"/>
                  </a:moveTo>
                  <a:lnTo>
                    <a:pt x="15875" y="1749679"/>
                  </a:lnTo>
                  <a:lnTo>
                    <a:pt x="31750" y="1749679"/>
                  </a:lnTo>
                  <a:cubicBezTo>
                    <a:pt x="31750" y="2698369"/>
                    <a:pt x="800862" y="3467608"/>
                    <a:pt x="1749679" y="3467608"/>
                  </a:cubicBezTo>
                  <a:cubicBezTo>
                    <a:pt x="2698496" y="3467608"/>
                    <a:pt x="3467608" y="2698496"/>
                    <a:pt x="3467608" y="1749679"/>
                  </a:cubicBezTo>
                  <a:lnTo>
                    <a:pt x="3467608" y="15875"/>
                  </a:lnTo>
                  <a:lnTo>
                    <a:pt x="3483483" y="15875"/>
                  </a:lnTo>
                  <a:lnTo>
                    <a:pt x="3483483" y="31750"/>
                  </a:lnTo>
                  <a:lnTo>
                    <a:pt x="2616454" y="31750"/>
                  </a:lnTo>
                  <a:lnTo>
                    <a:pt x="1749679" y="31750"/>
                  </a:lnTo>
                  <a:lnTo>
                    <a:pt x="1749679" y="15875"/>
                  </a:lnTo>
                  <a:lnTo>
                    <a:pt x="1749679" y="31750"/>
                  </a:lnTo>
                  <a:cubicBezTo>
                    <a:pt x="800862" y="31750"/>
                    <a:pt x="31750" y="800862"/>
                    <a:pt x="31750" y="174967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517526" y="1984479"/>
            <a:ext cx="1307577" cy="1307575"/>
            <a:chOff x="0" y="0"/>
            <a:chExt cx="3268942" cy="3268938"/>
          </a:xfrm>
        </p:grpSpPr>
        <p:sp>
          <p:nvSpPr>
            <p:cNvPr id="48" name="Freeform 48"/>
            <p:cNvSpPr/>
            <p:nvPr/>
          </p:nvSpPr>
          <p:spPr>
            <a:xfrm>
              <a:off x="15875" y="15875"/>
              <a:ext cx="3237230" cy="3237230"/>
            </a:xfrm>
            <a:custGeom>
              <a:avLst/>
              <a:gdLst/>
              <a:ahLst/>
              <a:cxnLst/>
              <a:rect l="l" t="t" r="r" b="b"/>
              <a:pathLst>
                <a:path w="3237230" h="3237230">
                  <a:moveTo>
                    <a:pt x="0" y="1618615"/>
                  </a:moveTo>
                  <a:cubicBezTo>
                    <a:pt x="0" y="724662"/>
                    <a:pt x="724662" y="0"/>
                    <a:pt x="1618615" y="0"/>
                  </a:cubicBezTo>
                  <a:cubicBezTo>
                    <a:pt x="2512568" y="0"/>
                    <a:pt x="3237230" y="724662"/>
                    <a:pt x="3237230" y="1618615"/>
                  </a:cubicBezTo>
                  <a:cubicBezTo>
                    <a:pt x="3237230" y="2512568"/>
                    <a:pt x="2512568" y="3237230"/>
                    <a:pt x="1618615" y="3237230"/>
                  </a:cubicBezTo>
                  <a:cubicBezTo>
                    <a:pt x="724662" y="3237230"/>
                    <a:pt x="0" y="2512568"/>
                    <a:pt x="0" y="1618615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3268980" cy="3268980"/>
            </a:xfrm>
            <a:custGeom>
              <a:avLst/>
              <a:gdLst/>
              <a:ahLst/>
              <a:cxnLst/>
              <a:rect l="l" t="t" r="r" b="b"/>
              <a:pathLst>
                <a:path w="3268980" h="3268980">
                  <a:moveTo>
                    <a:pt x="0" y="1634490"/>
                  </a:moveTo>
                  <a:cubicBezTo>
                    <a:pt x="0" y="731774"/>
                    <a:pt x="731774" y="0"/>
                    <a:pt x="1634490" y="0"/>
                  </a:cubicBezTo>
                  <a:lnTo>
                    <a:pt x="1634490" y="15875"/>
                  </a:lnTo>
                  <a:lnTo>
                    <a:pt x="1634490" y="0"/>
                  </a:lnTo>
                  <a:cubicBezTo>
                    <a:pt x="2537206" y="0"/>
                    <a:pt x="3268980" y="731774"/>
                    <a:pt x="3268980" y="1634490"/>
                  </a:cubicBezTo>
                  <a:cubicBezTo>
                    <a:pt x="3268980" y="2537206"/>
                    <a:pt x="2537206" y="3268980"/>
                    <a:pt x="1634490" y="3268980"/>
                  </a:cubicBezTo>
                  <a:lnTo>
                    <a:pt x="1634490" y="3253105"/>
                  </a:lnTo>
                  <a:lnTo>
                    <a:pt x="1634490" y="3268980"/>
                  </a:lnTo>
                  <a:cubicBezTo>
                    <a:pt x="731774" y="3268980"/>
                    <a:pt x="0" y="2537206"/>
                    <a:pt x="0" y="1634490"/>
                  </a:cubicBezTo>
                  <a:lnTo>
                    <a:pt x="15875" y="1634490"/>
                  </a:lnTo>
                  <a:lnTo>
                    <a:pt x="29210" y="1642999"/>
                  </a:lnTo>
                  <a:cubicBezTo>
                    <a:pt x="25400" y="1648968"/>
                    <a:pt x="18161" y="1651635"/>
                    <a:pt x="11430" y="1649730"/>
                  </a:cubicBezTo>
                  <a:cubicBezTo>
                    <a:pt x="4699" y="1647825"/>
                    <a:pt x="0" y="1641602"/>
                    <a:pt x="0" y="1634490"/>
                  </a:cubicBezTo>
                  <a:moveTo>
                    <a:pt x="31750" y="1634490"/>
                  </a:moveTo>
                  <a:lnTo>
                    <a:pt x="15875" y="1634490"/>
                  </a:lnTo>
                  <a:lnTo>
                    <a:pt x="2540" y="1625854"/>
                  </a:lnTo>
                  <a:cubicBezTo>
                    <a:pt x="6350" y="1619885"/>
                    <a:pt x="13589" y="1617218"/>
                    <a:pt x="20320" y="1619123"/>
                  </a:cubicBezTo>
                  <a:cubicBezTo>
                    <a:pt x="27051" y="1621028"/>
                    <a:pt x="31750" y="1627251"/>
                    <a:pt x="31750" y="1634363"/>
                  </a:cubicBezTo>
                  <a:cubicBezTo>
                    <a:pt x="31750" y="2519553"/>
                    <a:pt x="749300" y="3237103"/>
                    <a:pt x="1634490" y="3237103"/>
                  </a:cubicBezTo>
                  <a:cubicBezTo>
                    <a:pt x="2519680" y="3237103"/>
                    <a:pt x="3237230" y="2519553"/>
                    <a:pt x="3237230" y="1634363"/>
                  </a:cubicBezTo>
                  <a:lnTo>
                    <a:pt x="3253105" y="1634363"/>
                  </a:lnTo>
                  <a:lnTo>
                    <a:pt x="3237230" y="1634363"/>
                  </a:lnTo>
                  <a:cubicBezTo>
                    <a:pt x="3237230" y="749300"/>
                    <a:pt x="2519680" y="31750"/>
                    <a:pt x="1634490" y="31750"/>
                  </a:cubicBezTo>
                  <a:lnTo>
                    <a:pt x="1634490" y="15875"/>
                  </a:lnTo>
                  <a:lnTo>
                    <a:pt x="1634490" y="31750"/>
                  </a:lnTo>
                  <a:cubicBezTo>
                    <a:pt x="749300" y="31750"/>
                    <a:pt x="31750" y="749300"/>
                    <a:pt x="31750" y="1634490"/>
                  </a:cubicBezTo>
                  <a:close/>
                </a:path>
              </a:pathLst>
            </a:custGeom>
            <a:solidFill>
              <a:srgbClr val="8A988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702824" y="2169496"/>
            <a:ext cx="937717" cy="937542"/>
            <a:chOff x="0" y="0"/>
            <a:chExt cx="2344292" cy="234385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44292" cy="2343854"/>
            </a:xfrm>
            <a:custGeom>
              <a:avLst/>
              <a:gdLst/>
              <a:ahLst/>
              <a:cxnLst/>
              <a:rect l="l" t="t" r="r" b="b"/>
              <a:pathLst>
                <a:path w="2344292" h="2343854">
                  <a:moveTo>
                    <a:pt x="0" y="0"/>
                  </a:moveTo>
                  <a:lnTo>
                    <a:pt x="2344292" y="0"/>
                  </a:lnTo>
                  <a:lnTo>
                    <a:pt x="2344292" y="2343854"/>
                  </a:lnTo>
                  <a:lnTo>
                    <a:pt x="0" y="23438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2344292" cy="23533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36"/>
                </a:lnSpc>
              </a:pPr>
              <a:r>
                <a:rPr lang="en-US" sz="96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Data Understanding &amp; Cleaning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18567" y="3883497"/>
            <a:ext cx="2035450" cy="1705403"/>
            <a:chOff x="0" y="0"/>
            <a:chExt cx="5088624" cy="4263508"/>
          </a:xfrm>
        </p:grpSpPr>
        <p:sp>
          <p:nvSpPr>
            <p:cNvPr id="54" name="Freeform 54"/>
            <p:cNvSpPr/>
            <p:nvPr/>
          </p:nvSpPr>
          <p:spPr>
            <a:xfrm>
              <a:off x="15875" y="15875"/>
              <a:ext cx="5056886" cy="4231767"/>
            </a:xfrm>
            <a:custGeom>
              <a:avLst/>
              <a:gdLst/>
              <a:ahLst/>
              <a:cxnLst/>
              <a:rect l="l" t="t" r="r" b="b"/>
              <a:pathLst>
                <a:path w="5056886" h="4231767">
                  <a:moveTo>
                    <a:pt x="0" y="705358"/>
                  </a:moveTo>
                  <a:cubicBezTo>
                    <a:pt x="0" y="315849"/>
                    <a:pt x="316103" y="0"/>
                    <a:pt x="706120" y="0"/>
                  </a:cubicBezTo>
                  <a:lnTo>
                    <a:pt x="4350766" y="0"/>
                  </a:lnTo>
                  <a:cubicBezTo>
                    <a:pt x="4740783" y="0"/>
                    <a:pt x="5056886" y="315722"/>
                    <a:pt x="5056886" y="705358"/>
                  </a:cubicBezTo>
                  <a:lnTo>
                    <a:pt x="5056886" y="3526409"/>
                  </a:lnTo>
                  <a:cubicBezTo>
                    <a:pt x="5056886" y="3915918"/>
                    <a:pt x="4740783" y="4231767"/>
                    <a:pt x="4350766" y="4231767"/>
                  </a:cubicBezTo>
                  <a:lnTo>
                    <a:pt x="706120" y="4231767"/>
                  </a:lnTo>
                  <a:cubicBezTo>
                    <a:pt x="316103" y="4231767"/>
                    <a:pt x="0" y="3916045"/>
                    <a:pt x="0" y="3526409"/>
                  </a:cubicBezTo>
                  <a:close/>
                </a:path>
              </a:pathLst>
            </a:custGeom>
            <a:solidFill>
              <a:srgbClr val="9BA8B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5088636" cy="4263517"/>
            </a:xfrm>
            <a:custGeom>
              <a:avLst/>
              <a:gdLst/>
              <a:ahLst/>
              <a:cxnLst/>
              <a:rect l="l" t="t" r="r" b="b"/>
              <a:pathLst>
                <a:path w="5088636" h="4263517">
                  <a:moveTo>
                    <a:pt x="0" y="721233"/>
                  </a:moveTo>
                  <a:cubicBezTo>
                    <a:pt x="0" y="322834"/>
                    <a:pt x="323342" y="0"/>
                    <a:pt x="721995" y="0"/>
                  </a:cubicBezTo>
                  <a:lnTo>
                    <a:pt x="4366641" y="0"/>
                  </a:lnTo>
                  <a:lnTo>
                    <a:pt x="4366641" y="15875"/>
                  </a:lnTo>
                  <a:lnTo>
                    <a:pt x="4366641" y="0"/>
                  </a:lnTo>
                  <a:cubicBezTo>
                    <a:pt x="4765421" y="0"/>
                    <a:pt x="5088636" y="322834"/>
                    <a:pt x="5088636" y="721233"/>
                  </a:cubicBezTo>
                  <a:lnTo>
                    <a:pt x="5072761" y="721233"/>
                  </a:lnTo>
                  <a:lnTo>
                    <a:pt x="5088636" y="721233"/>
                  </a:lnTo>
                  <a:lnTo>
                    <a:pt x="5088636" y="3542284"/>
                  </a:lnTo>
                  <a:lnTo>
                    <a:pt x="5072761" y="3542284"/>
                  </a:lnTo>
                  <a:lnTo>
                    <a:pt x="5088636" y="3542284"/>
                  </a:lnTo>
                  <a:cubicBezTo>
                    <a:pt x="5088636" y="3940556"/>
                    <a:pt x="4765294" y="4263517"/>
                    <a:pt x="4366641" y="4263517"/>
                  </a:cubicBezTo>
                  <a:lnTo>
                    <a:pt x="4366641" y="4247642"/>
                  </a:lnTo>
                  <a:lnTo>
                    <a:pt x="4366641" y="4263517"/>
                  </a:lnTo>
                  <a:lnTo>
                    <a:pt x="721995" y="4263517"/>
                  </a:lnTo>
                  <a:lnTo>
                    <a:pt x="721995" y="4247642"/>
                  </a:lnTo>
                  <a:lnTo>
                    <a:pt x="721995" y="4263517"/>
                  </a:lnTo>
                  <a:cubicBezTo>
                    <a:pt x="323342" y="4263517"/>
                    <a:pt x="0" y="3940683"/>
                    <a:pt x="0" y="3542284"/>
                  </a:cubicBezTo>
                  <a:lnTo>
                    <a:pt x="0" y="721233"/>
                  </a:lnTo>
                  <a:lnTo>
                    <a:pt x="15875" y="721233"/>
                  </a:lnTo>
                  <a:lnTo>
                    <a:pt x="0" y="721233"/>
                  </a:lnTo>
                  <a:moveTo>
                    <a:pt x="31750" y="721233"/>
                  </a:moveTo>
                  <a:lnTo>
                    <a:pt x="31750" y="3542284"/>
                  </a:lnTo>
                  <a:lnTo>
                    <a:pt x="15875" y="3542284"/>
                  </a:lnTo>
                  <a:lnTo>
                    <a:pt x="31750" y="3542284"/>
                  </a:lnTo>
                  <a:cubicBezTo>
                    <a:pt x="31750" y="3923030"/>
                    <a:pt x="340741" y="4231767"/>
                    <a:pt x="721995" y="4231767"/>
                  </a:cubicBezTo>
                  <a:lnTo>
                    <a:pt x="4366641" y="4231767"/>
                  </a:lnTo>
                  <a:cubicBezTo>
                    <a:pt x="4747895" y="4231767"/>
                    <a:pt x="5056886" y="3923030"/>
                    <a:pt x="5056886" y="3542284"/>
                  </a:cubicBezTo>
                  <a:lnTo>
                    <a:pt x="5056886" y="721233"/>
                  </a:lnTo>
                  <a:cubicBezTo>
                    <a:pt x="5056886" y="340487"/>
                    <a:pt x="4747895" y="31750"/>
                    <a:pt x="4366641" y="31750"/>
                  </a:cubicBezTo>
                  <a:lnTo>
                    <a:pt x="721995" y="31750"/>
                  </a:lnTo>
                  <a:lnTo>
                    <a:pt x="721995" y="15875"/>
                  </a:lnTo>
                  <a:lnTo>
                    <a:pt x="721995" y="31750"/>
                  </a:lnTo>
                  <a:cubicBezTo>
                    <a:pt x="340741" y="31750"/>
                    <a:pt x="31750" y="340487"/>
                    <a:pt x="31750" y="721233"/>
                  </a:cubicBezTo>
                  <a:close/>
                </a:path>
              </a:pathLst>
            </a:custGeom>
            <a:solidFill>
              <a:srgbClr val="3F45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5088624" cy="4301608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l">
                <a:lnSpc>
                  <a:spcPts val="1727"/>
                </a:lnSpc>
              </a:pPr>
              <a:r>
                <a:rPr lang="en-US" sz="1439" dirty="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Data Selected: </a:t>
              </a:r>
            </a:p>
            <a:p>
              <a:pPr algn="l">
                <a:lnSpc>
                  <a:spcPts val="1727"/>
                </a:lnSpc>
              </a:pP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Private Comprehensive Motor Policy Insurance of Malaysia (PIB)</a:t>
              </a:r>
            </a:p>
            <a:p>
              <a:pPr algn="l">
                <a:lnSpc>
                  <a:spcPts val="1727"/>
                </a:lnSpc>
              </a:pP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5 years (2020-24)</a:t>
              </a:r>
            </a:p>
          </p:txBody>
        </p:sp>
      </p:grpSp>
      <p:sp>
        <p:nvSpPr>
          <p:cNvPr id="57" name="Freeform 57"/>
          <p:cNvSpPr/>
          <p:nvPr/>
        </p:nvSpPr>
        <p:spPr>
          <a:xfrm>
            <a:off x="2761424" y="4160715"/>
            <a:ext cx="1272955" cy="465670"/>
          </a:xfrm>
          <a:custGeom>
            <a:avLst/>
            <a:gdLst/>
            <a:ahLst/>
            <a:cxnLst/>
            <a:rect l="l" t="t" r="r" b="b"/>
            <a:pathLst>
              <a:path w="1272955" h="465670">
                <a:moveTo>
                  <a:pt x="0" y="0"/>
                </a:moveTo>
                <a:lnTo>
                  <a:pt x="1272955" y="0"/>
                </a:lnTo>
                <a:lnTo>
                  <a:pt x="1272955" y="465671"/>
                </a:lnTo>
                <a:lnTo>
                  <a:pt x="0" y="465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8" name="Group 58"/>
          <p:cNvGrpSpPr/>
          <p:nvPr/>
        </p:nvGrpSpPr>
        <p:grpSpPr>
          <a:xfrm>
            <a:off x="2942764" y="4223831"/>
            <a:ext cx="910275" cy="339438"/>
            <a:chOff x="0" y="0"/>
            <a:chExt cx="1213700" cy="45258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213700" cy="452585"/>
            </a:xfrm>
            <a:custGeom>
              <a:avLst/>
              <a:gdLst/>
              <a:ahLst/>
              <a:cxnLst/>
              <a:rect l="l" t="t" r="r" b="b"/>
              <a:pathLst>
                <a:path w="1213700" h="452585">
                  <a:moveTo>
                    <a:pt x="0" y="0"/>
                  </a:moveTo>
                  <a:lnTo>
                    <a:pt x="1213700" y="0"/>
                  </a:lnTo>
                  <a:lnTo>
                    <a:pt x="1213700" y="452585"/>
                  </a:lnTo>
                  <a:lnTo>
                    <a:pt x="0" y="452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0" y="0"/>
              <a:ext cx="1213700" cy="452585"/>
              <a:chOff x="0" y="0"/>
              <a:chExt cx="2275688" cy="84859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2275688" cy="848596"/>
              </a:xfrm>
              <a:custGeom>
                <a:avLst/>
                <a:gdLst/>
                <a:ahLst/>
                <a:cxnLst/>
                <a:rect l="l" t="t" r="r" b="b"/>
                <a:pathLst>
                  <a:path w="2275688" h="848596">
                    <a:moveTo>
                      <a:pt x="0" y="0"/>
                    </a:moveTo>
                    <a:lnTo>
                      <a:pt x="2275688" y="0"/>
                    </a:lnTo>
                    <a:lnTo>
                      <a:pt x="2275688" y="848596"/>
                    </a:lnTo>
                    <a:lnTo>
                      <a:pt x="0" y="84859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9525"/>
                <a:ext cx="2275688" cy="85812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864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ITC Franklin Gothic LT"/>
                    <a:ea typeface="ITC Franklin Gothic LT"/>
                    <a:cs typeface="ITC Franklin Gothic LT"/>
                    <a:sym typeface="ITC Franklin Gothic LT"/>
                  </a:rPr>
                  <a:t>Drop less significant features</a:t>
                </a:r>
              </a:p>
            </p:txBody>
          </p:sp>
        </p:grpSp>
      </p:grpSp>
      <p:sp>
        <p:nvSpPr>
          <p:cNvPr id="63" name="Freeform 63"/>
          <p:cNvSpPr/>
          <p:nvPr/>
        </p:nvSpPr>
        <p:spPr>
          <a:xfrm>
            <a:off x="3186661" y="4685534"/>
            <a:ext cx="422482" cy="422482"/>
          </a:xfrm>
          <a:custGeom>
            <a:avLst/>
            <a:gdLst/>
            <a:ahLst/>
            <a:cxnLst/>
            <a:rect l="l" t="t" r="r" b="b"/>
            <a:pathLst>
              <a:path w="422482" h="422482">
                <a:moveTo>
                  <a:pt x="0" y="0"/>
                </a:moveTo>
                <a:lnTo>
                  <a:pt x="422482" y="0"/>
                </a:lnTo>
                <a:lnTo>
                  <a:pt x="422482" y="422482"/>
                </a:lnTo>
                <a:lnTo>
                  <a:pt x="0" y="422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4" name="Freeform 64"/>
          <p:cNvSpPr/>
          <p:nvPr/>
        </p:nvSpPr>
        <p:spPr>
          <a:xfrm>
            <a:off x="2708599" y="5167164"/>
            <a:ext cx="1378605" cy="379440"/>
          </a:xfrm>
          <a:custGeom>
            <a:avLst/>
            <a:gdLst/>
            <a:ahLst/>
            <a:cxnLst/>
            <a:rect l="l" t="t" r="r" b="b"/>
            <a:pathLst>
              <a:path w="1378605" h="379440">
                <a:moveTo>
                  <a:pt x="0" y="0"/>
                </a:moveTo>
                <a:lnTo>
                  <a:pt x="1378605" y="0"/>
                </a:lnTo>
                <a:lnTo>
                  <a:pt x="1378605" y="379440"/>
                </a:lnTo>
                <a:lnTo>
                  <a:pt x="0" y="3794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5" name="Group 65"/>
          <p:cNvGrpSpPr/>
          <p:nvPr/>
        </p:nvGrpSpPr>
        <p:grpSpPr>
          <a:xfrm>
            <a:off x="2905411" y="5217652"/>
            <a:ext cx="984981" cy="278464"/>
            <a:chOff x="0" y="0"/>
            <a:chExt cx="1313308" cy="37128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313308" cy="371285"/>
            </a:xfrm>
            <a:custGeom>
              <a:avLst/>
              <a:gdLst/>
              <a:ahLst/>
              <a:cxnLst/>
              <a:rect l="l" t="t" r="r" b="b"/>
              <a:pathLst>
                <a:path w="1313308" h="371285">
                  <a:moveTo>
                    <a:pt x="0" y="0"/>
                  </a:moveTo>
                  <a:lnTo>
                    <a:pt x="1313308" y="0"/>
                  </a:lnTo>
                  <a:lnTo>
                    <a:pt x="1313308" y="371285"/>
                  </a:lnTo>
                  <a:lnTo>
                    <a:pt x="0" y="37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0" y="0"/>
              <a:ext cx="1313308" cy="371285"/>
              <a:chOff x="0" y="0"/>
              <a:chExt cx="2462452" cy="69616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2462452" cy="696160"/>
              </a:xfrm>
              <a:custGeom>
                <a:avLst/>
                <a:gdLst/>
                <a:ahLst/>
                <a:cxnLst/>
                <a:rect l="l" t="t" r="r" b="b"/>
                <a:pathLst>
                  <a:path w="2462452" h="696160">
                    <a:moveTo>
                      <a:pt x="0" y="0"/>
                    </a:moveTo>
                    <a:lnTo>
                      <a:pt x="2462452" y="0"/>
                    </a:lnTo>
                    <a:lnTo>
                      <a:pt x="2462452" y="696160"/>
                    </a:lnTo>
                    <a:lnTo>
                      <a:pt x="0" y="69616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9525"/>
                <a:ext cx="2462452" cy="70568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864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ITC Franklin Gothic LT"/>
                    <a:ea typeface="ITC Franklin Gothic LT"/>
                    <a:cs typeface="ITC Franklin Gothic LT"/>
                    <a:sym typeface="ITC Franklin Gothic LT"/>
                  </a:rPr>
                  <a:t>CC Bins</a:t>
                </a:r>
              </a:p>
            </p:txBody>
          </p:sp>
        </p:grpSp>
      </p:grpSp>
      <p:sp>
        <p:nvSpPr>
          <p:cNvPr id="70" name="Freeform 70"/>
          <p:cNvSpPr/>
          <p:nvPr/>
        </p:nvSpPr>
        <p:spPr>
          <a:xfrm>
            <a:off x="3186661" y="5605752"/>
            <a:ext cx="422482" cy="422482"/>
          </a:xfrm>
          <a:custGeom>
            <a:avLst/>
            <a:gdLst/>
            <a:ahLst/>
            <a:cxnLst/>
            <a:rect l="l" t="t" r="r" b="b"/>
            <a:pathLst>
              <a:path w="422482" h="422482">
                <a:moveTo>
                  <a:pt x="0" y="0"/>
                </a:moveTo>
                <a:lnTo>
                  <a:pt x="422482" y="0"/>
                </a:lnTo>
                <a:lnTo>
                  <a:pt x="422482" y="422483"/>
                </a:lnTo>
                <a:lnTo>
                  <a:pt x="0" y="422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1" name="Freeform 71"/>
          <p:cNvSpPr/>
          <p:nvPr/>
        </p:nvSpPr>
        <p:spPr>
          <a:xfrm>
            <a:off x="2801006" y="6087383"/>
            <a:ext cx="1193790" cy="507533"/>
          </a:xfrm>
          <a:custGeom>
            <a:avLst/>
            <a:gdLst/>
            <a:ahLst/>
            <a:cxnLst/>
            <a:rect l="l" t="t" r="r" b="b"/>
            <a:pathLst>
              <a:path w="1193790" h="507533">
                <a:moveTo>
                  <a:pt x="0" y="0"/>
                </a:moveTo>
                <a:lnTo>
                  <a:pt x="1193791" y="0"/>
                </a:lnTo>
                <a:lnTo>
                  <a:pt x="1193791" y="507532"/>
                </a:lnTo>
                <a:lnTo>
                  <a:pt x="0" y="5075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2" name="Group 72"/>
          <p:cNvGrpSpPr/>
          <p:nvPr/>
        </p:nvGrpSpPr>
        <p:grpSpPr>
          <a:xfrm>
            <a:off x="2970753" y="6156629"/>
            <a:ext cx="854298" cy="369040"/>
            <a:chOff x="0" y="0"/>
            <a:chExt cx="1139063" cy="49205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139063" cy="492053"/>
            </a:xfrm>
            <a:custGeom>
              <a:avLst/>
              <a:gdLst/>
              <a:ahLst/>
              <a:cxnLst/>
              <a:rect l="l" t="t" r="r" b="b"/>
              <a:pathLst>
                <a:path w="1139063" h="492053">
                  <a:moveTo>
                    <a:pt x="0" y="0"/>
                  </a:moveTo>
                  <a:lnTo>
                    <a:pt x="1139063" y="0"/>
                  </a:lnTo>
                  <a:lnTo>
                    <a:pt x="1139063" y="492053"/>
                  </a:lnTo>
                  <a:lnTo>
                    <a:pt x="0" y="492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0" y="0"/>
              <a:ext cx="1139063" cy="492053"/>
              <a:chOff x="0" y="0"/>
              <a:chExt cx="2135744" cy="9226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2135744" cy="922600"/>
              </a:xfrm>
              <a:custGeom>
                <a:avLst/>
                <a:gdLst/>
                <a:ahLst/>
                <a:cxnLst/>
                <a:rect l="l" t="t" r="r" b="b"/>
                <a:pathLst>
                  <a:path w="2135744" h="922600">
                    <a:moveTo>
                      <a:pt x="0" y="0"/>
                    </a:moveTo>
                    <a:lnTo>
                      <a:pt x="2135744" y="0"/>
                    </a:lnTo>
                    <a:lnTo>
                      <a:pt x="2135744" y="922600"/>
                    </a:lnTo>
                    <a:lnTo>
                      <a:pt x="0" y="9226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0" y="-9525"/>
                <a:ext cx="2135744" cy="9321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864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ITC Franklin Gothic LT"/>
                    <a:ea typeface="ITC Franklin Gothic LT"/>
                    <a:cs typeface="ITC Franklin Gothic LT"/>
                    <a:sym typeface="ITC Franklin Gothic LT"/>
                  </a:rPr>
                  <a:t>Grouping of records </a:t>
                </a:r>
              </a:p>
            </p:txBody>
          </p:sp>
        </p:grpSp>
      </p:grpSp>
      <p:sp>
        <p:nvSpPr>
          <p:cNvPr id="77" name="Freeform 77"/>
          <p:cNvSpPr/>
          <p:nvPr/>
        </p:nvSpPr>
        <p:spPr>
          <a:xfrm>
            <a:off x="4196467" y="5242330"/>
            <a:ext cx="231637" cy="270971"/>
          </a:xfrm>
          <a:custGeom>
            <a:avLst/>
            <a:gdLst/>
            <a:ahLst/>
            <a:cxnLst/>
            <a:rect l="l" t="t" r="r" b="b"/>
            <a:pathLst>
              <a:path w="231637" h="270971">
                <a:moveTo>
                  <a:pt x="0" y="0"/>
                </a:moveTo>
                <a:lnTo>
                  <a:pt x="231637" y="0"/>
                </a:lnTo>
                <a:lnTo>
                  <a:pt x="231637" y="270971"/>
                </a:lnTo>
                <a:lnTo>
                  <a:pt x="0" y="2709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8" name="Freeform 78"/>
          <p:cNvSpPr/>
          <p:nvPr/>
        </p:nvSpPr>
        <p:spPr>
          <a:xfrm>
            <a:off x="4576404" y="4639163"/>
            <a:ext cx="1456837" cy="1456837"/>
          </a:xfrm>
          <a:custGeom>
            <a:avLst/>
            <a:gdLst/>
            <a:ahLst/>
            <a:cxnLst/>
            <a:rect l="l" t="t" r="r" b="b"/>
            <a:pathLst>
              <a:path w="1456837" h="1456837">
                <a:moveTo>
                  <a:pt x="0" y="0"/>
                </a:moveTo>
                <a:lnTo>
                  <a:pt x="1456837" y="0"/>
                </a:lnTo>
                <a:lnTo>
                  <a:pt x="1456837" y="1456837"/>
                </a:lnTo>
                <a:lnTo>
                  <a:pt x="0" y="145683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9" name="Group 79"/>
          <p:cNvGrpSpPr/>
          <p:nvPr/>
        </p:nvGrpSpPr>
        <p:grpSpPr>
          <a:xfrm>
            <a:off x="4784673" y="4847432"/>
            <a:ext cx="1040299" cy="1040299"/>
            <a:chOff x="0" y="0"/>
            <a:chExt cx="1387066" cy="138706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387066" cy="1387066"/>
            </a:xfrm>
            <a:custGeom>
              <a:avLst/>
              <a:gdLst/>
              <a:ahLst/>
              <a:cxnLst/>
              <a:rect l="l" t="t" r="r" b="b"/>
              <a:pathLst>
                <a:path w="1387066" h="1387066">
                  <a:moveTo>
                    <a:pt x="0" y="0"/>
                  </a:moveTo>
                  <a:lnTo>
                    <a:pt x="1387066" y="0"/>
                  </a:lnTo>
                  <a:lnTo>
                    <a:pt x="1387066" y="1387066"/>
                  </a:lnTo>
                  <a:lnTo>
                    <a:pt x="0" y="1387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0" y="0"/>
              <a:ext cx="1387066" cy="1387066"/>
              <a:chOff x="0" y="0"/>
              <a:chExt cx="2600748" cy="2600748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2600748" cy="2600748"/>
              </a:xfrm>
              <a:custGeom>
                <a:avLst/>
                <a:gdLst/>
                <a:ahLst/>
                <a:cxnLst/>
                <a:rect l="l" t="t" r="r" b="b"/>
                <a:pathLst>
                  <a:path w="2600748" h="2600748">
                    <a:moveTo>
                      <a:pt x="0" y="0"/>
                    </a:moveTo>
                    <a:lnTo>
                      <a:pt x="2600748" y="0"/>
                    </a:lnTo>
                    <a:lnTo>
                      <a:pt x="2600748" y="2600748"/>
                    </a:lnTo>
                    <a:lnTo>
                      <a:pt x="0" y="260074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0" y="-9525"/>
                <a:ext cx="2600748" cy="261027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382"/>
                  </a:lnSpc>
                </a:pPr>
                <a:r>
                  <a:rPr lang="en-US" sz="1280">
                    <a:solidFill>
                      <a:srgbClr val="000000"/>
                    </a:solidFill>
                    <a:latin typeface="ITC Franklin Gothic LT"/>
                    <a:ea typeface="ITC Franklin Gothic LT"/>
                    <a:cs typeface="ITC Franklin Gothic LT"/>
                    <a:sym typeface="ITC Franklin Gothic LT"/>
                  </a:rPr>
                  <a:t>Concatenation of Policy &amp; Claim data</a:t>
                </a:r>
              </a:p>
            </p:txBody>
          </p:sp>
        </p:grpSp>
      </p:grpSp>
      <p:sp>
        <p:nvSpPr>
          <p:cNvPr id="84" name="AutoShape 84"/>
          <p:cNvSpPr/>
          <p:nvPr/>
        </p:nvSpPr>
        <p:spPr>
          <a:xfrm rot="-2546628">
            <a:off x="1994271" y="3565229"/>
            <a:ext cx="970486" cy="0"/>
          </a:xfrm>
          <a:prstGeom prst="line">
            <a:avLst/>
          </a:prstGeom>
          <a:ln w="9525" cap="rnd">
            <a:solidFill>
              <a:srgbClr val="9BA8B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85" name="AutoShape 85"/>
          <p:cNvSpPr/>
          <p:nvPr/>
        </p:nvSpPr>
        <p:spPr>
          <a:xfrm rot="1902782">
            <a:off x="3284641" y="3793916"/>
            <a:ext cx="2189842" cy="259869"/>
          </a:xfrm>
          <a:prstGeom prst="line">
            <a:avLst/>
          </a:prstGeom>
          <a:ln w="9525" cap="rnd">
            <a:solidFill>
              <a:srgbClr val="9BA8B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86" name="Group 86"/>
          <p:cNvGrpSpPr/>
          <p:nvPr/>
        </p:nvGrpSpPr>
        <p:grpSpPr>
          <a:xfrm>
            <a:off x="6447749" y="3883496"/>
            <a:ext cx="3144915" cy="2017126"/>
            <a:chOff x="0" y="0"/>
            <a:chExt cx="7862288" cy="5042814"/>
          </a:xfrm>
        </p:grpSpPr>
        <p:sp>
          <p:nvSpPr>
            <p:cNvPr id="87" name="Freeform 87"/>
            <p:cNvSpPr/>
            <p:nvPr/>
          </p:nvSpPr>
          <p:spPr>
            <a:xfrm>
              <a:off x="15875" y="15875"/>
              <a:ext cx="7830566" cy="5011039"/>
            </a:xfrm>
            <a:custGeom>
              <a:avLst/>
              <a:gdLst/>
              <a:ahLst/>
              <a:cxnLst/>
              <a:rect l="l" t="t" r="r" b="b"/>
              <a:pathLst>
                <a:path w="7830566" h="5011039">
                  <a:moveTo>
                    <a:pt x="0" y="835152"/>
                  </a:moveTo>
                  <a:cubicBezTo>
                    <a:pt x="0" y="373888"/>
                    <a:pt x="374777" y="0"/>
                    <a:pt x="837057" y="0"/>
                  </a:cubicBezTo>
                  <a:lnTo>
                    <a:pt x="6993509" y="0"/>
                  </a:lnTo>
                  <a:cubicBezTo>
                    <a:pt x="7455789" y="0"/>
                    <a:pt x="7830566" y="373888"/>
                    <a:pt x="7830566" y="835152"/>
                  </a:cubicBezTo>
                  <a:lnTo>
                    <a:pt x="7830566" y="4175887"/>
                  </a:lnTo>
                  <a:cubicBezTo>
                    <a:pt x="7830566" y="4637151"/>
                    <a:pt x="7455789" y="5011039"/>
                    <a:pt x="6993509" y="5011039"/>
                  </a:cubicBezTo>
                  <a:lnTo>
                    <a:pt x="837057" y="5011039"/>
                  </a:lnTo>
                  <a:cubicBezTo>
                    <a:pt x="374777" y="5011039"/>
                    <a:pt x="0" y="4637151"/>
                    <a:pt x="0" y="4175887"/>
                  </a:cubicBezTo>
                  <a:close/>
                </a:path>
              </a:pathLst>
            </a:custGeom>
            <a:solidFill>
              <a:srgbClr val="9BA8B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8"/>
            <p:cNvSpPr/>
            <p:nvPr/>
          </p:nvSpPr>
          <p:spPr>
            <a:xfrm>
              <a:off x="0" y="0"/>
              <a:ext cx="7862316" cy="5042789"/>
            </a:xfrm>
            <a:custGeom>
              <a:avLst/>
              <a:gdLst/>
              <a:ahLst/>
              <a:cxnLst/>
              <a:rect l="l" t="t" r="r" b="b"/>
              <a:pathLst>
                <a:path w="7862316" h="5042789">
                  <a:moveTo>
                    <a:pt x="0" y="851027"/>
                  </a:moveTo>
                  <a:cubicBezTo>
                    <a:pt x="0" y="381000"/>
                    <a:pt x="381889" y="0"/>
                    <a:pt x="852932" y="0"/>
                  </a:cubicBezTo>
                  <a:lnTo>
                    <a:pt x="7009384" y="0"/>
                  </a:lnTo>
                  <a:lnTo>
                    <a:pt x="7009384" y="15875"/>
                  </a:lnTo>
                  <a:lnTo>
                    <a:pt x="7009384" y="0"/>
                  </a:lnTo>
                  <a:cubicBezTo>
                    <a:pt x="7480427" y="0"/>
                    <a:pt x="7862316" y="381000"/>
                    <a:pt x="7862316" y="851027"/>
                  </a:cubicBezTo>
                  <a:lnTo>
                    <a:pt x="7846441" y="851027"/>
                  </a:lnTo>
                  <a:lnTo>
                    <a:pt x="7862316" y="851027"/>
                  </a:lnTo>
                  <a:lnTo>
                    <a:pt x="7862316" y="4191762"/>
                  </a:lnTo>
                  <a:lnTo>
                    <a:pt x="7846441" y="4191762"/>
                  </a:lnTo>
                  <a:lnTo>
                    <a:pt x="7862316" y="4191762"/>
                  </a:lnTo>
                  <a:cubicBezTo>
                    <a:pt x="7862316" y="4661789"/>
                    <a:pt x="7480427" y="5042789"/>
                    <a:pt x="7009384" y="5042789"/>
                  </a:cubicBezTo>
                  <a:lnTo>
                    <a:pt x="7009384" y="5026914"/>
                  </a:lnTo>
                  <a:lnTo>
                    <a:pt x="7009384" y="5042789"/>
                  </a:lnTo>
                  <a:lnTo>
                    <a:pt x="852932" y="5042789"/>
                  </a:lnTo>
                  <a:lnTo>
                    <a:pt x="852932" y="5026914"/>
                  </a:lnTo>
                  <a:lnTo>
                    <a:pt x="852932" y="5042789"/>
                  </a:lnTo>
                  <a:cubicBezTo>
                    <a:pt x="381889" y="5042789"/>
                    <a:pt x="0" y="4661789"/>
                    <a:pt x="0" y="4191762"/>
                  </a:cubicBezTo>
                  <a:lnTo>
                    <a:pt x="0" y="851027"/>
                  </a:lnTo>
                  <a:lnTo>
                    <a:pt x="15875" y="851027"/>
                  </a:lnTo>
                  <a:lnTo>
                    <a:pt x="0" y="851027"/>
                  </a:lnTo>
                  <a:moveTo>
                    <a:pt x="31750" y="851027"/>
                  </a:moveTo>
                  <a:lnTo>
                    <a:pt x="31750" y="4191762"/>
                  </a:lnTo>
                  <a:lnTo>
                    <a:pt x="15875" y="4191762"/>
                  </a:lnTo>
                  <a:lnTo>
                    <a:pt x="31750" y="4191762"/>
                  </a:lnTo>
                  <a:cubicBezTo>
                    <a:pt x="31750" y="4644263"/>
                    <a:pt x="399415" y="5011039"/>
                    <a:pt x="852932" y="5011039"/>
                  </a:cubicBezTo>
                  <a:lnTo>
                    <a:pt x="7009384" y="5011039"/>
                  </a:lnTo>
                  <a:cubicBezTo>
                    <a:pt x="7462901" y="5011039"/>
                    <a:pt x="7830566" y="4644136"/>
                    <a:pt x="7830566" y="4191762"/>
                  </a:cubicBezTo>
                  <a:lnTo>
                    <a:pt x="7830566" y="851027"/>
                  </a:lnTo>
                  <a:cubicBezTo>
                    <a:pt x="7830566" y="398526"/>
                    <a:pt x="7462901" y="31750"/>
                    <a:pt x="7009384" y="31750"/>
                  </a:cubicBezTo>
                  <a:lnTo>
                    <a:pt x="852932" y="31750"/>
                  </a:lnTo>
                  <a:lnTo>
                    <a:pt x="852932" y="15875"/>
                  </a:lnTo>
                  <a:lnTo>
                    <a:pt x="852932" y="31750"/>
                  </a:lnTo>
                  <a:cubicBezTo>
                    <a:pt x="399415" y="31750"/>
                    <a:pt x="31750" y="398653"/>
                    <a:pt x="31750" y="851027"/>
                  </a:cubicBezTo>
                  <a:close/>
                </a:path>
              </a:pathLst>
            </a:custGeom>
            <a:solidFill>
              <a:srgbClr val="3F45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7862288" cy="5080914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marL="260604" lvl="1" indent="-130302" algn="l">
                <a:lnSpc>
                  <a:spcPts val="1727"/>
                </a:lnSpc>
                <a:buFont typeface="Arial"/>
                <a:buChar char="•"/>
              </a:pPr>
              <a:r>
                <a:rPr lang="en-US" sz="1439" dirty="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Policy data: </a:t>
              </a:r>
            </a:p>
            <a:p>
              <a:pPr marL="260604" lvl="1" indent="-130302" algn="l">
                <a:lnSpc>
                  <a:spcPts val="1727"/>
                </a:lnSpc>
              </a:pP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Records = 20,72,235 , Features = 117</a:t>
              </a:r>
            </a:p>
            <a:p>
              <a:pPr marL="260604" lvl="1" indent="-130302" algn="l">
                <a:lnSpc>
                  <a:spcPts val="1727"/>
                </a:lnSpc>
                <a:buFont typeface="Arial"/>
                <a:buChar char="•"/>
              </a:pPr>
              <a:r>
                <a:rPr lang="en-US" sz="1439" dirty="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Claim data: </a:t>
              </a:r>
            </a:p>
            <a:p>
              <a:pPr marL="260604" lvl="1" indent="-130302" algn="l">
                <a:lnSpc>
                  <a:spcPts val="1727"/>
                </a:lnSpc>
              </a:pP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Records = 4,91,804 , Features = 123</a:t>
              </a:r>
            </a:p>
            <a:p>
              <a:pPr marL="260604" lvl="1" indent="-130302" algn="l">
                <a:lnSpc>
                  <a:spcPts val="1727"/>
                </a:lnSpc>
                <a:buFont typeface="Arial"/>
                <a:buChar char="•"/>
              </a:pPr>
              <a:r>
                <a:rPr lang="en-US" sz="1439" dirty="0">
                  <a:solidFill>
                    <a:srgbClr val="000000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Grouping records in terms of </a:t>
              </a: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[</a:t>
              </a:r>
              <a:r>
                <a:rPr lang="en-US" sz="1439" dirty="0" err="1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policy_no</a:t>
              </a: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, </a:t>
              </a:r>
              <a:r>
                <a:rPr lang="en-US" sz="1439" dirty="0" err="1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inception_date</a:t>
              </a: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, </a:t>
              </a:r>
              <a:r>
                <a:rPr lang="en-US" sz="1439" dirty="0" err="1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expiry_date</a:t>
              </a:r>
              <a:r>
                <a:rPr lang="en-US" sz="1439" dirty="0">
                  <a:solidFill>
                    <a:srgbClr val="FFFFF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, split]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80CAE-E2CF-D708-862E-0A92193C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C81B044-398A-8CCF-A15E-533B9B759D88}"/>
              </a:ext>
            </a:extLst>
          </p:cNvPr>
          <p:cNvSpPr txBox="1"/>
          <p:nvPr/>
        </p:nvSpPr>
        <p:spPr>
          <a:xfrm>
            <a:off x="1601311" y="687071"/>
            <a:ext cx="6550977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Feature Selection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EC1DA41-5970-BC06-8BE2-B248A2219743}"/>
              </a:ext>
            </a:extLst>
          </p:cNvPr>
          <p:cNvSpPr txBox="1"/>
          <p:nvPr/>
        </p:nvSpPr>
        <p:spPr>
          <a:xfrm>
            <a:off x="838200" y="1828800"/>
            <a:ext cx="7620000" cy="3147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Mutual Information</a:t>
            </a:r>
          </a:p>
          <a:p>
            <a:pPr marL="694689" lvl="2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A statistical measure that quantifies how much information one variable provides about another. </a:t>
            </a:r>
          </a:p>
          <a:p>
            <a:pPr marL="694689" lvl="2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Helps capture non-linear relationship, unlike correlation)</a:t>
            </a:r>
          </a:p>
          <a:p>
            <a:pPr marL="694689" lvl="2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Tells us, “How much knowing feature X reduces uncertainty about the target Y.”</a:t>
            </a:r>
          </a:p>
          <a:p>
            <a:pPr marL="1037589" lvl="2" indent="-342900">
              <a:lnSpc>
                <a:spcPts val="3079"/>
              </a:lnSpc>
              <a:buFontTx/>
              <a:buChar char="-"/>
            </a:pPr>
            <a:r>
              <a:rPr lang="en-US" sz="219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MI = 0 signifies No Relationship</a:t>
            </a:r>
          </a:p>
          <a:p>
            <a:pPr marL="1037589" lvl="2" indent="-342900">
              <a:lnSpc>
                <a:spcPts val="3079"/>
              </a:lnSpc>
              <a:buFontTx/>
              <a:buChar char="-"/>
            </a:pPr>
            <a:r>
              <a:rPr lang="en-US" sz="219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MI &gt; 0 signifies Stronger Dependency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61F0E9-129C-6FA7-0B5B-DC57EF98F69B}"/>
              </a:ext>
            </a:extLst>
          </p:cNvPr>
          <p:cNvSpPr/>
          <p:nvPr/>
        </p:nvSpPr>
        <p:spPr>
          <a:xfrm>
            <a:off x="1066800" y="5662785"/>
            <a:ext cx="2053589" cy="68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Helped reducing Noise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EFADF6-1043-D1C5-4089-BB05852A473B}"/>
              </a:ext>
            </a:extLst>
          </p:cNvPr>
          <p:cNvSpPr/>
          <p:nvPr/>
        </p:nvSpPr>
        <p:spPr>
          <a:xfrm>
            <a:off x="6705600" y="5632305"/>
            <a:ext cx="2082778" cy="68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Improved efficiency &amp; interpretability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56A6D8-EB49-0F0B-7671-78D9B94C3F9D}"/>
              </a:ext>
            </a:extLst>
          </p:cNvPr>
          <p:cNvSpPr/>
          <p:nvPr/>
        </p:nvSpPr>
        <p:spPr>
          <a:xfrm>
            <a:off x="3718558" y="5654040"/>
            <a:ext cx="2316481" cy="68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Find features most useful for predicting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83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DFE31-B4B7-A732-AC47-49D8667E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B86E3AE-B673-7037-DE45-FA56B4A03884}"/>
              </a:ext>
            </a:extLst>
          </p:cNvPr>
          <p:cNvSpPr txBox="1"/>
          <p:nvPr/>
        </p:nvSpPr>
        <p:spPr>
          <a:xfrm>
            <a:off x="1601311" y="440371"/>
            <a:ext cx="6948425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Feature Selection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1323BB-E1CA-C7FB-8E4F-7E81C1921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007" y="2602648"/>
            <a:ext cx="3510297" cy="312195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D01838-6155-0C26-6074-4748B94560E2}"/>
              </a:ext>
            </a:extLst>
          </p:cNvPr>
          <p:cNvSpPr/>
          <p:nvPr/>
        </p:nvSpPr>
        <p:spPr>
          <a:xfrm>
            <a:off x="457093" y="1517961"/>
            <a:ext cx="2545988" cy="51294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33DEA6-5329-F63B-FE60-CD8C0459C93E}"/>
              </a:ext>
            </a:extLst>
          </p:cNvPr>
          <p:cNvSpPr/>
          <p:nvPr/>
        </p:nvSpPr>
        <p:spPr>
          <a:xfrm>
            <a:off x="667638" y="5530123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make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03BA2C-633D-850A-C2CB-D83B12DC64FA}"/>
              </a:ext>
            </a:extLst>
          </p:cNvPr>
          <p:cNvSpPr/>
          <p:nvPr/>
        </p:nvSpPr>
        <p:spPr>
          <a:xfrm>
            <a:off x="656912" y="4864504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Policy no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A5205F2-B019-3A50-9F01-8DACB3EF6D01}"/>
              </a:ext>
            </a:extLst>
          </p:cNvPr>
          <p:cNvSpPr/>
          <p:nvPr/>
        </p:nvSpPr>
        <p:spPr>
          <a:xfrm>
            <a:off x="667638" y="4537134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Vehicle age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A7142B-D296-77FB-C104-09AB59B6E426}"/>
              </a:ext>
            </a:extLst>
          </p:cNvPr>
          <p:cNvSpPr/>
          <p:nvPr/>
        </p:nvSpPr>
        <p:spPr>
          <a:xfrm>
            <a:off x="656912" y="4218247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D80787-F967-2A91-A6F9-7462D10F564B}"/>
              </a:ext>
            </a:extLst>
          </p:cNvPr>
          <p:cNvSpPr/>
          <p:nvPr/>
        </p:nvSpPr>
        <p:spPr>
          <a:xfrm>
            <a:off x="667638" y="3891029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Xc_gwp_prv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87CD886-F9D9-7741-E6C1-D7F44738E151}"/>
              </a:ext>
            </a:extLst>
          </p:cNvPr>
          <p:cNvSpPr/>
          <p:nvPr/>
        </p:nvSpPr>
        <p:spPr>
          <a:xfrm>
            <a:off x="667638" y="3570940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AC86296-05C1-16AA-7B98-47E94D062222}"/>
              </a:ext>
            </a:extLst>
          </p:cNvPr>
          <p:cNvSpPr/>
          <p:nvPr/>
        </p:nvSpPr>
        <p:spPr>
          <a:xfrm>
            <a:off x="656912" y="3229400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Sum insured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D6CCCAC-BDCF-E518-5A4D-DC84B69CA582}"/>
              </a:ext>
            </a:extLst>
          </p:cNvPr>
          <p:cNvSpPr/>
          <p:nvPr/>
        </p:nvSpPr>
        <p:spPr>
          <a:xfrm>
            <a:off x="543009" y="2853403"/>
            <a:ext cx="2378650" cy="32859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Dim_pol_sum_insured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FF6B0C2-C675-E334-4149-623BA48295A9}"/>
              </a:ext>
            </a:extLst>
          </p:cNvPr>
          <p:cNvSpPr/>
          <p:nvPr/>
        </p:nvSpPr>
        <p:spPr>
          <a:xfrm>
            <a:off x="667638" y="2531130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Basic premium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99D3905-D212-B1B7-E2D8-87263AC84D62}"/>
              </a:ext>
            </a:extLst>
          </p:cNvPr>
          <p:cNvSpPr/>
          <p:nvPr/>
        </p:nvSpPr>
        <p:spPr>
          <a:xfrm>
            <a:off x="656912" y="5194308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split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F17EC26-6E2D-6307-2704-D1492D6EB7C3}"/>
              </a:ext>
            </a:extLst>
          </p:cNvPr>
          <p:cNvSpPr/>
          <p:nvPr/>
        </p:nvSpPr>
        <p:spPr>
          <a:xfrm>
            <a:off x="871113" y="1757286"/>
            <a:ext cx="1729437" cy="6670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Algo Selected Features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FF18A6-39DC-852A-87E0-B931EE7A66B2}"/>
              </a:ext>
            </a:extLst>
          </p:cNvPr>
          <p:cNvSpPr/>
          <p:nvPr/>
        </p:nvSpPr>
        <p:spPr>
          <a:xfrm>
            <a:off x="6900797" y="1516626"/>
            <a:ext cx="2395603" cy="54102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C87F320-DDDF-28A1-0A02-2101AA562ED4}"/>
              </a:ext>
            </a:extLst>
          </p:cNvPr>
          <p:cNvSpPr/>
          <p:nvPr/>
        </p:nvSpPr>
        <p:spPr>
          <a:xfrm>
            <a:off x="7068438" y="5796940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 type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2DA5FC6-2248-A5CE-BC93-8A7DCD961B85}"/>
              </a:ext>
            </a:extLst>
          </p:cNvPr>
          <p:cNvSpPr/>
          <p:nvPr/>
        </p:nvSpPr>
        <p:spPr>
          <a:xfrm>
            <a:off x="7068438" y="5109869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844E1C2-934C-7798-8722-F77C9A457270}"/>
              </a:ext>
            </a:extLst>
          </p:cNvPr>
          <p:cNvSpPr/>
          <p:nvPr/>
        </p:nvSpPr>
        <p:spPr>
          <a:xfrm>
            <a:off x="7068438" y="4728869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13678F7-A172-3DDB-E5F9-E9E57EDAE2E7}"/>
              </a:ext>
            </a:extLst>
          </p:cNvPr>
          <p:cNvSpPr/>
          <p:nvPr/>
        </p:nvSpPr>
        <p:spPr>
          <a:xfrm>
            <a:off x="7068438" y="4345625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45289D7-959C-33EA-5708-D1EC83385720}"/>
              </a:ext>
            </a:extLst>
          </p:cNvPr>
          <p:cNvSpPr/>
          <p:nvPr/>
        </p:nvSpPr>
        <p:spPr>
          <a:xfrm>
            <a:off x="7068438" y="3986229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Vehicle age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C9C1B2D-8FBE-0C74-D630-29D8F8AFB34C}"/>
              </a:ext>
            </a:extLst>
          </p:cNvPr>
          <p:cNvSpPr/>
          <p:nvPr/>
        </p:nvSpPr>
        <p:spPr>
          <a:xfrm>
            <a:off x="7068438" y="3633962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Make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853C300-3D19-75CB-25AA-12B3D925E525}"/>
              </a:ext>
            </a:extLst>
          </p:cNvPr>
          <p:cNvSpPr/>
          <p:nvPr/>
        </p:nvSpPr>
        <p:spPr>
          <a:xfrm>
            <a:off x="7068438" y="3281695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NCB percentage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F863D9F-1D78-44F2-A263-A20E4E017DC3}"/>
              </a:ext>
            </a:extLst>
          </p:cNvPr>
          <p:cNvSpPr/>
          <p:nvPr/>
        </p:nvSpPr>
        <p:spPr>
          <a:xfrm>
            <a:off x="7068438" y="2905745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Sum insured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D2F3E91-0DEB-A888-3ED1-2EBFF312FE70}"/>
              </a:ext>
            </a:extLst>
          </p:cNvPr>
          <p:cNvSpPr/>
          <p:nvPr/>
        </p:nvSpPr>
        <p:spPr>
          <a:xfrm>
            <a:off x="7068438" y="2529795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Split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1A5429B-4F2A-E947-7BC9-8AD3806D6C21}"/>
              </a:ext>
            </a:extLst>
          </p:cNvPr>
          <p:cNvSpPr/>
          <p:nvPr/>
        </p:nvSpPr>
        <p:spPr>
          <a:xfrm>
            <a:off x="7068438" y="5450400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 postcode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EE46C16-DC99-0140-CDAE-838C45C6EB0A}"/>
              </a:ext>
            </a:extLst>
          </p:cNvPr>
          <p:cNvSpPr/>
          <p:nvPr/>
        </p:nvSpPr>
        <p:spPr>
          <a:xfrm>
            <a:off x="7011673" y="1712513"/>
            <a:ext cx="2173849" cy="71003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Domain Knowledge Selected Features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BE642C5-DB78-13BD-EB22-4B06B87F0D28}"/>
              </a:ext>
            </a:extLst>
          </p:cNvPr>
          <p:cNvSpPr/>
          <p:nvPr/>
        </p:nvSpPr>
        <p:spPr>
          <a:xfrm>
            <a:off x="656912" y="5852439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 postcode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F207F2F-4160-DA6C-2431-CF09A3EB8357}"/>
              </a:ext>
            </a:extLst>
          </p:cNvPr>
          <p:cNvSpPr/>
          <p:nvPr/>
        </p:nvSpPr>
        <p:spPr>
          <a:xfrm>
            <a:off x="667638" y="6153303"/>
            <a:ext cx="2141320" cy="2929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Ncb</a:t>
            </a:r>
            <a:r>
              <a:rPr lang="en-US" dirty="0"/>
              <a:t> percentage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2A2E20-7444-9819-E495-AE34CB308426}"/>
              </a:ext>
            </a:extLst>
          </p:cNvPr>
          <p:cNvSpPr/>
          <p:nvPr/>
        </p:nvSpPr>
        <p:spPr>
          <a:xfrm>
            <a:off x="6985941" y="6143480"/>
            <a:ext cx="2234259" cy="3101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Xc_veh_renewal_no</a:t>
            </a:r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59B6506-C42E-D10A-1222-22486FB5314F}"/>
              </a:ext>
            </a:extLst>
          </p:cNvPr>
          <p:cNvSpPr/>
          <p:nvPr/>
        </p:nvSpPr>
        <p:spPr>
          <a:xfrm>
            <a:off x="7062141" y="6513013"/>
            <a:ext cx="2023160" cy="3144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Loss ratio</a:t>
            </a:r>
          </a:p>
        </p:txBody>
      </p:sp>
    </p:spTree>
    <p:extLst>
      <p:ext uri="{BB962C8B-B14F-4D97-AF65-F5344CB8AC3E}">
        <p14:creationId xmlns:p14="http://schemas.microsoft.com/office/powerpoint/2010/main" val="259789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1311" y="687071"/>
            <a:ext cx="6550977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Model Training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1520" y="1838325"/>
            <a:ext cx="4326935" cy="473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CatBoost</a:t>
            </a:r>
            <a:endParaRPr lang="en-US" sz="21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by Yandex, designed to handle categorical features natively and effectively. It is part of gradient boosting family, like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LightGBM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a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CatBoost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Regressor on 3 years of data, tested on 2 years, with extensive data preprocessing and time-based cross-validation.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D3E09-78C0-3EB9-DFCE-16B9A5C65766}"/>
              </a:ext>
            </a:extLst>
          </p:cNvPr>
          <p:cNvSpPr/>
          <p:nvPr/>
        </p:nvSpPr>
        <p:spPr>
          <a:xfrm>
            <a:off x="5562600" y="1828800"/>
            <a:ext cx="3459480" cy="4799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BF5DB3-7180-2618-022F-34A6D1CA9F01}"/>
              </a:ext>
            </a:extLst>
          </p:cNvPr>
          <p:cNvSpPr/>
          <p:nvPr/>
        </p:nvSpPr>
        <p:spPr>
          <a:xfrm>
            <a:off x="5730240" y="6173471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lossratio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06D0F2-1754-5252-68EB-DA133B690547}"/>
              </a:ext>
            </a:extLst>
          </p:cNvPr>
          <p:cNvSpPr/>
          <p:nvPr/>
        </p:nvSpPr>
        <p:spPr>
          <a:xfrm>
            <a:off x="5730240" y="54864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7E44B7-237B-9908-464F-123B719AA1CB}"/>
              </a:ext>
            </a:extLst>
          </p:cNvPr>
          <p:cNvSpPr/>
          <p:nvPr/>
        </p:nvSpPr>
        <p:spPr>
          <a:xfrm>
            <a:off x="5730240" y="51054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F94D00-E873-D092-D83C-B05B34A53376}"/>
              </a:ext>
            </a:extLst>
          </p:cNvPr>
          <p:cNvSpPr/>
          <p:nvPr/>
        </p:nvSpPr>
        <p:spPr>
          <a:xfrm>
            <a:off x="5730240" y="4722156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1B8DDD-1AB3-C193-F040-17C26FE93D4C}"/>
              </a:ext>
            </a:extLst>
          </p:cNvPr>
          <p:cNvSpPr/>
          <p:nvPr/>
        </p:nvSpPr>
        <p:spPr>
          <a:xfrm>
            <a:off x="5730240" y="4352034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Vehicle age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FFDC90-76D3-FF6F-FED8-365336B817DC}"/>
              </a:ext>
            </a:extLst>
          </p:cNvPr>
          <p:cNvSpPr/>
          <p:nvPr/>
        </p:nvSpPr>
        <p:spPr>
          <a:xfrm>
            <a:off x="5730240" y="3999767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Make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61B4AD-A9AD-739F-28FD-DDCE18263510}"/>
              </a:ext>
            </a:extLst>
          </p:cNvPr>
          <p:cNvSpPr/>
          <p:nvPr/>
        </p:nvSpPr>
        <p:spPr>
          <a:xfrm>
            <a:off x="5730240" y="36475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NCB percentage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11E2AB-54E0-8F9F-A1BE-41F687C4C903}"/>
              </a:ext>
            </a:extLst>
          </p:cNvPr>
          <p:cNvSpPr/>
          <p:nvPr/>
        </p:nvSpPr>
        <p:spPr>
          <a:xfrm>
            <a:off x="5730240" y="327155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Sum insured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AE2251-D8F1-EE7B-D4ED-5E4423E9AA93}"/>
              </a:ext>
            </a:extLst>
          </p:cNvPr>
          <p:cNvSpPr/>
          <p:nvPr/>
        </p:nvSpPr>
        <p:spPr>
          <a:xfrm>
            <a:off x="5730240" y="28956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Split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F87471-9C32-768F-B021-90407DF747C1}"/>
              </a:ext>
            </a:extLst>
          </p:cNvPr>
          <p:cNvSpPr/>
          <p:nvPr/>
        </p:nvSpPr>
        <p:spPr>
          <a:xfrm>
            <a:off x="5730240" y="5826931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 postcode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C909455-1FEA-4955-8D9C-EA8326C17437}"/>
              </a:ext>
            </a:extLst>
          </p:cNvPr>
          <p:cNvSpPr/>
          <p:nvPr/>
        </p:nvSpPr>
        <p:spPr>
          <a:xfrm>
            <a:off x="6096000" y="2057400"/>
            <a:ext cx="2286000" cy="68834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Importances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17B30-D544-07CD-7969-6D88B760E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2E2D734-5F0D-94D3-70F6-5F2000E89510}"/>
              </a:ext>
            </a:extLst>
          </p:cNvPr>
          <p:cNvSpPr txBox="1"/>
          <p:nvPr/>
        </p:nvSpPr>
        <p:spPr>
          <a:xfrm>
            <a:off x="1601311" y="687071"/>
            <a:ext cx="6550977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Model Training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D3CFCFA-DECD-421A-6D47-D2D85A8399A3}"/>
              </a:ext>
            </a:extLst>
          </p:cNvPr>
          <p:cNvSpPr txBox="1"/>
          <p:nvPr/>
        </p:nvSpPr>
        <p:spPr>
          <a:xfrm>
            <a:off x="731520" y="1838325"/>
            <a:ext cx="4326935" cy="394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LightGBM</a:t>
            </a:r>
            <a:endParaRPr lang="en-US" sz="21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by Microsoft, designed for fast, distributed, and efficient gradient boosting. </a:t>
            </a: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a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LightGBM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3 years of data, tested on 2 years, with extensive data preprocessing and time-based cross-validation.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FC3C7-A25D-A27F-A1DF-AE45CD55F860}"/>
              </a:ext>
            </a:extLst>
          </p:cNvPr>
          <p:cNvSpPr/>
          <p:nvPr/>
        </p:nvSpPr>
        <p:spPr>
          <a:xfrm>
            <a:off x="5562600" y="1828800"/>
            <a:ext cx="3459480" cy="4799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54A39D-C142-47FD-1A7D-81FE65FE18D9}"/>
              </a:ext>
            </a:extLst>
          </p:cNvPr>
          <p:cNvSpPr/>
          <p:nvPr/>
        </p:nvSpPr>
        <p:spPr>
          <a:xfrm>
            <a:off x="5730240" y="6173471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 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D6ACC0-213E-FD28-4BBB-F15CBCD7E918}"/>
              </a:ext>
            </a:extLst>
          </p:cNvPr>
          <p:cNvSpPr/>
          <p:nvPr/>
        </p:nvSpPr>
        <p:spPr>
          <a:xfrm>
            <a:off x="5730240" y="54864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Make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CCF5F0-8D1B-6C14-A733-AF8C9EDC06B6}"/>
              </a:ext>
            </a:extLst>
          </p:cNvPr>
          <p:cNvSpPr/>
          <p:nvPr/>
        </p:nvSpPr>
        <p:spPr>
          <a:xfrm>
            <a:off x="5730240" y="51054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372300-466C-79A9-93CC-BFF5D940C66E}"/>
              </a:ext>
            </a:extLst>
          </p:cNvPr>
          <p:cNvSpPr/>
          <p:nvPr/>
        </p:nvSpPr>
        <p:spPr>
          <a:xfrm>
            <a:off x="5730240" y="4722156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 postcode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7078ED-B6F6-F14B-6A29-4B838F1E4B07}"/>
              </a:ext>
            </a:extLst>
          </p:cNvPr>
          <p:cNvSpPr/>
          <p:nvPr/>
        </p:nvSpPr>
        <p:spPr>
          <a:xfrm>
            <a:off x="5730240" y="4352034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Vehicle age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D61643-A03A-1DD9-A3DF-2367CCCBC592}"/>
              </a:ext>
            </a:extLst>
          </p:cNvPr>
          <p:cNvSpPr/>
          <p:nvPr/>
        </p:nvSpPr>
        <p:spPr>
          <a:xfrm>
            <a:off x="5730240" y="3999767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NCB percentage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7EDF64-EB7A-E9B5-9070-8797E4104C55}"/>
              </a:ext>
            </a:extLst>
          </p:cNvPr>
          <p:cNvSpPr/>
          <p:nvPr/>
        </p:nvSpPr>
        <p:spPr>
          <a:xfrm>
            <a:off x="5730240" y="36475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Split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47C70F-5CD8-0A14-6F2F-2581F55D95E3}"/>
              </a:ext>
            </a:extLst>
          </p:cNvPr>
          <p:cNvSpPr/>
          <p:nvPr/>
        </p:nvSpPr>
        <p:spPr>
          <a:xfrm>
            <a:off x="5730240" y="327155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EBC95C-4FA6-B83C-591D-C2CA6344EF2F}"/>
              </a:ext>
            </a:extLst>
          </p:cNvPr>
          <p:cNvSpPr/>
          <p:nvPr/>
        </p:nvSpPr>
        <p:spPr>
          <a:xfrm>
            <a:off x="5730240" y="28956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Sum insured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345777-A6CE-F23A-7449-D0BB08B64D04}"/>
              </a:ext>
            </a:extLst>
          </p:cNvPr>
          <p:cNvSpPr/>
          <p:nvPr/>
        </p:nvSpPr>
        <p:spPr>
          <a:xfrm>
            <a:off x="5730240" y="5826931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CC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1EC79C-59FE-4DD7-ACD4-CE2645925273}"/>
              </a:ext>
            </a:extLst>
          </p:cNvPr>
          <p:cNvSpPr/>
          <p:nvPr/>
        </p:nvSpPr>
        <p:spPr>
          <a:xfrm>
            <a:off x="6096000" y="2057400"/>
            <a:ext cx="2286000" cy="68834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Importances</a:t>
            </a:r>
          </a:p>
        </p:txBody>
      </p:sp>
    </p:spTree>
    <p:extLst>
      <p:ext uri="{BB962C8B-B14F-4D97-AF65-F5344CB8AC3E}">
        <p14:creationId xmlns:p14="http://schemas.microsoft.com/office/powerpoint/2010/main" val="845759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278F7-F078-3D21-47E8-C813CFF7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42E0B09-F213-8DFD-7479-42B46F4AB6A4}"/>
              </a:ext>
            </a:extLst>
          </p:cNvPr>
          <p:cNvSpPr txBox="1"/>
          <p:nvPr/>
        </p:nvSpPr>
        <p:spPr>
          <a:xfrm>
            <a:off x="1601311" y="687071"/>
            <a:ext cx="6550977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Model Training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5F8C96F-A929-153C-F781-0B74E788684F}"/>
              </a:ext>
            </a:extLst>
          </p:cNvPr>
          <p:cNvSpPr txBox="1"/>
          <p:nvPr/>
        </p:nvSpPr>
        <p:spPr>
          <a:xfrm>
            <a:off x="401618" y="1828800"/>
            <a:ext cx="4993341" cy="5134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XGBoost</a:t>
            </a:r>
            <a:endParaRPr lang="en-US" sz="21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Gradient Boosting framework known for speed and performance. Uses boosted decision trees for regression and classification tasks.</a:t>
            </a: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a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XGBoostRegressor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3 years of data, tested on future 2 years, applied Label Encoding on key categorical features and time-based cross-validation. Tuned for high accuracy and generalizations with 1000 estimators.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872C7E-B20C-385B-B456-C0641B2B18B9}"/>
              </a:ext>
            </a:extLst>
          </p:cNvPr>
          <p:cNvSpPr/>
          <p:nvPr/>
        </p:nvSpPr>
        <p:spPr>
          <a:xfrm>
            <a:off x="5562600" y="1828800"/>
            <a:ext cx="3459480" cy="4799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4302F5-34EC-A5A4-7ECF-7EEDDE738779}"/>
              </a:ext>
            </a:extLst>
          </p:cNvPr>
          <p:cNvSpPr/>
          <p:nvPr/>
        </p:nvSpPr>
        <p:spPr>
          <a:xfrm>
            <a:off x="5730240" y="6173471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Loss ratio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3D6CE1-96DB-2AB7-A7FC-02D51354A1D9}"/>
              </a:ext>
            </a:extLst>
          </p:cNvPr>
          <p:cNvSpPr/>
          <p:nvPr/>
        </p:nvSpPr>
        <p:spPr>
          <a:xfrm>
            <a:off x="5730240" y="54864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 Postcode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7761E8-7324-1268-9316-103DADC5A174}"/>
              </a:ext>
            </a:extLst>
          </p:cNvPr>
          <p:cNvSpPr/>
          <p:nvPr/>
        </p:nvSpPr>
        <p:spPr>
          <a:xfrm>
            <a:off x="5730240" y="51054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7D3D39-067A-0C2E-0DA5-EE265A7D95A2}"/>
              </a:ext>
            </a:extLst>
          </p:cNvPr>
          <p:cNvSpPr/>
          <p:nvPr/>
        </p:nvSpPr>
        <p:spPr>
          <a:xfrm>
            <a:off x="5730240" y="4722156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Make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799AFC-BE3E-0CEF-B35C-0D96B1F85C2D}"/>
              </a:ext>
            </a:extLst>
          </p:cNvPr>
          <p:cNvSpPr/>
          <p:nvPr/>
        </p:nvSpPr>
        <p:spPr>
          <a:xfrm>
            <a:off x="5730240" y="4352034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Vehicle age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BF539D-164E-A816-3BC9-B469B9B2E347}"/>
              </a:ext>
            </a:extLst>
          </p:cNvPr>
          <p:cNvSpPr/>
          <p:nvPr/>
        </p:nvSpPr>
        <p:spPr>
          <a:xfrm>
            <a:off x="5730240" y="3999767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2FB9A9-CC26-618F-5191-B5251957C2B4}"/>
              </a:ext>
            </a:extLst>
          </p:cNvPr>
          <p:cNvSpPr/>
          <p:nvPr/>
        </p:nvSpPr>
        <p:spPr>
          <a:xfrm>
            <a:off x="5730240" y="36475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NCB percentage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B75C40-3392-321B-8904-2AD26FF8C46F}"/>
              </a:ext>
            </a:extLst>
          </p:cNvPr>
          <p:cNvSpPr/>
          <p:nvPr/>
        </p:nvSpPr>
        <p:spPr>
          <a:xfrm>
            <a:off x="5730240" y="327155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Sum insured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2541C7-6EA5-442F-049F-0FCE74AEC0B7}"/>
              </a:ext>
            </a:extLst>
          </p:cNvPr>
          <p:cNvSpPr/>
          <p:nvPr/>
        </p:nvSpPr>
        <p:spPr>
          <a:xfrm>
            <a:off x="5730240" y="2895600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Split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E001BB-F4F3-B030-DA8E-04B26D59FDB4}"/>
              </a:ext>
            </a:extLst>
          </p:cNvPr>
          <p:cNvSpPr/>
          <p:nvPr/>
        </p:nvSpPr>
        <p:spPr>
          <a:xfrm>
            <a:off x="5730240" y="5826931"/>
            <a:ext cx="3124200" cy="304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FCE5CE-5FC9-2DA3-961F-F5317CB9E201}"/>
              </a:ext>
            </a:extLst>
          </p:cNvPr>
          <p:cNvSpPr/>
          <p:nvPr/>
        </p:nvSpPr>
        <p:spPr>
          <a:xfrm>
            <a:off x="6096000" y="2057400"/>
            <a:ext cx="2286000" cy="68834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Importances</a:t>
            </a:r>
          </a:p>
        </p:txBody>
      </p:sp>
    </p:spTree>
    <p:extLst>
      <p:ext uri="{BB962C8B-B14F-4D97-AF65-F5344CB8AC3E}">
        <p14:creationId xmlns:p14="http://schemas.microsoft.com/office/powerpoint/2010/main" val="988855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39719-31F9-35E9-32BD-C8CCB620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75724F9-1CF6-2ABD-C7B1-4FD4301B8547}"/>
              </a:ext>
            </a:extLst>
          </p:cNvPr>
          <p:cNvSpPr txBox="1"/>
          <p:nvPr/>
        </p:nvSpPr>
        <p:spPr>
          <a:xfrm>
            <a:off x="1601311" y="687071"/>
            <a:ext cx="6550977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Model 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C2376-F4C1-03A2-1F4B-4D367522DD53}"/>
              </a:ext>
            </a:extLst>
          </p:cNvPr>
          <p:cNvSpPr txBox="1"/>
          <p:nvPr/>
        </p:nvSpPr>
        <p:spPr>
          <a:xfrm>
            <a:off x="549864" y="1676400"/>
            <a:ext cx="8441736" cy="3147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CatBoost</a:t>
            </a:r>
            <a:endParaRPr lang="en-US" sz="21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 –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: GWP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: both numerical &amp; categorical columns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TimeSeriesSplit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(5 folds) to preserve temporal order.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900 iterations, depth = 8, learning rate = 0.01, L2 leaf regularization = 70, early stopping rounds = 50 to prevent overfitting</a:t>
            </a:r>
          </a:p>
        </p:txBody>
      </p:sp>
    </p:spTree>
    <p:extLst>
      <p:ext uri="{BB962C8B-B14F-4D97-AF65-F5344CB8AC3E}">
        <p14:creationId xmlns:p14="http://schemas.microsoft.com/office/powerpoint/2010/main" val="3169252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82B3C-ADFD-0348-61C9-2E3E7207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66CAB3A-6AAC-EDC1-FBE7-A38EE3B8FC69}"/>
              </a:ext>
            </a:extLst>
          </p:cNvPr>
          <p:cNvSpPr txBox="1"/>
          <p:nvPr/>
        </p:nvSpPr>
        <p:spPr>
          <a:xfrm>
            <a:off x="1601311" y="687071"/>
            <a:ext cx="6550977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Model 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4DCEC-E093-F673-FBD6-2B195226EC17}"/>
              </a:ext>
            </a:extLst>
          </p:cNvPr>
          <p:cNvSpPr txBox="1"/>
          <p:nvPr/>
        </p:nvSpPr>
        <p:spPr>
          <a:xfrm>
            <a:off x="4843461" y="1600200"/>
            <a:ext cx="4326935" cy="433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XGBoost</a:t>
            </a:r>
            <a:endParaRPr lang="en-US" sz="21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 –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XGBRegressor</a:t>
            </a:r>
            <a:endParaRPr lang="en-US" sz="21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N_estimators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1000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rate : 0.05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Booster :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gbtree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(default)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encoding : branch,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cust_type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split.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Cust_state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cust_gender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make, model, cc,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loss_ratio</a:t>
            </a:r>
            <a:endParaRPr lang="en-US" sz="21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2C100-7829-614C-8718-E0C9524C7429}"/>
              </a:ext>
            </a:extLst>
          </p:cNvPr>
          <p:cNvSpPr txBox="1"/>
          <p:nvPr/>
        </p:nvSpPr>
        <p:spPr>
          <a:xfrm>
            <a:off x="516526" y="1600200"/>
            <a:ext cx="4326935" cy="59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LightGBM</a:t>
            </a:r>
            <a:endParaRPr lang="en-US" sz="21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49959" lvl="2" indent="-316653" algn="l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 –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: ‘regression’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Boosting type : ‘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gdbt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rate : 0.05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Num_leaves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31 controls model complexity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stopping rounds = 100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Num_boost_round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1000 maximum no of boosting iterations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Feval : [custom metrics] for evaluation</a:t>
            </a:r>
          </a:p>
          <a:p>
            <a:pPr marL="1407159" lvl="3" indent="-316653">
              <a:lnSpc>
                <a:spcPts val="3079"/>
              </a:lnSpc>
              <a:buFont typeface="Arial"/>
              <a:buChar char="⚬"/>
            </a:pPr>
            <a:endParaRPr lang="en-US" sz="21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3319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A9746-ECFB-96CB-BD2C-D066C1ECE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7980A9F-2896-9120-5355-211FCA5E50A0}"/>
              </a:ext>
            </a:extLst>
          </p:cNvPr>
          <p:cNvSpPr txBox="1"/>
          <p:nvPr/>
        </p:nvSpPr>
        <p:spPr>
          <a:xfrm>
            <a:off x="643526" y="228600"/>
            <a:ext cx="8466548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1: Model testing and Results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AABEFEB-CD44-1369-95D0-F7030A54A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979986"/>
              </p:ext>
            </p:extLst>
          </p:nvPr>
        </p:nvGraphicFramePr>
        <p:xfrm>
          <a:off x="330556" y="1336504"/>
          <a:ext cx="6502400" cy="18542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230504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797366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6259316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56443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(2020-22)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(2024)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4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7933C"/>
                          </a:solidFill>
                        </a:rPr>
                        <a:t>0.849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7933C"/>
                          </a:solidFill>
                        </a:rPr>
                        <a:t>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7933C"/>
                          </a:solidFill>
                        </a:rPr>
                        <a:t>0.814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881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156.26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38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37,017.17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62,454.19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117,094.56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44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249.91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342.19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5144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A8E76F8-75B1-8E06-2A3C-9412261A15FF}"/>
              </a:ext>
            </a:extLst>
          </p:cNvPr>
          <p:cNvSpPr txBox="1"/>
          <p:nvPr/>
        </p:nvSpPr>
        <p:spPr>
          <a:xfrm>
            <a:off x="330556" y="933597"/>
            <a:ext cx="405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Catboost</a:t>
            </a:r>
            <a:r>
              <a:rPr lang="en-US" dirty="0"/>
              <a:t> Performance Overview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BA6C00B-6EFD-3919-0D87-35591E6A8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532371"/>
              </p:ext>
            </p:extLst>
          </p:nvPr>
        </p:nvGraphicFramePr>
        <p:xfrm>
          <a:off x="4721056" y="3235320"/>
          <a:ext cx="4876800" cy="18542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230504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797366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62593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(2020-22)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(2023)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4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7933C"/>
                          </a:solidFill>
                        </a:rPr>
                        <a:t>0.874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7933C"/>
                          </a:solidFill>
                        </a:rPr>
                        <a:t>0.905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881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38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27,869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37,607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44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193.92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5144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1539146-4B6E-3AD6-DA29-A4B577EEC8A6}"/>
              </a:ext>
            </a:extLst>
          </p:cNvPr>
          <p:cNvSpPr txBox="1"/>
          <p:nvPr/>
        </p:nvSpPr>
        <p:spPr>
          <a:xfrm>
            <a:off x="6843842" y="2562548"/>
            <a:ext cx="2762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LightGBM</a:t>
            </a:r>
            <a:r>
              <a:rPr lang="en-US" dirty="0"/>
              <a:t> Performance Overview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F3ED7FC-E0DB-5C3D-8F96-E1DCB115D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98135"/>
              </p:ext>
            </p:extLst>
          </p:nvPr>
        </p:nvGraphicFramePr>
        <p:xfrm>
          <a:off x="355600" y="5166451"/>
          <a:ext cx="6560356" cy="2021343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640089">
                  <a:extLst>
                    <a:ext uri="{9D8B030D-6E8A-4147-A177-3AD203B41FA5}">
                      <a16:colId xmlns:a16="http://schemas.microsoft.com/office/drawing/2014/main" val="422305046"/>
                    </a:ext>
                  </a:extLst>
                </a:gridCol>
                <a:gridCol w="1640089">
                  <a:extLst>
                    <a:ext uri="{9D8B030D-6E8A-4147-A177-3AD203B41FA5}">
                      <a16:colId xmlns:a16="http://schemas.microsoft.com/office/drawing/2014/main" val="3479736633"/>
                    </a:ext>
                  </a:extLst>
                </a:gridCol>
                <a:gridCol w="1640089">
                  <a:extLst>
                    <a:ext uri="{9D8B030D-6E8A-4147-A177-3AD203B41FA5}">
                      <a16:colId xmlns:a16="http://schemas.microsoft.com/office/drawing/2014/main" val="962593163"/>
                    </a:ext>
                  </a:extLst>
                </a:gridCol>
                <a:gridCol w="1640089">
                  <a:extLst>
                    <a:ext uri="{9D8B030D-6E8A-4147-A177-3AD203B41FA5}">
                      <a16:colId xmlns:a16="http://schemas.microsoft.com/office/drawing/2014/main" val="1156443332"/>
                    </a:ext>
                  </a:extLst>
                </a:gridCol>
              </a:tblGrid>
              <a:tr h="558303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(2020-22)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(2024)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449432"/>
                  </a:ext>
                </a:extLst>
              </a:tr>
              <a:tr h="338365">
                <a:tc>
                  <a:txBody>
                    <a:bodyPr/>
                    <a:lstStyle/>
                    <a:p>
                      <a:r>
                        <a:rPr lang="en-US" dirty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7933C"/>
                          </a:solidFill>
                        </a:rPr>
                        <a:t>0.946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7933C"/>
                          </a:solidFill>
                        </a:rPr>
                        <a:t>0.898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7933C"/>
                          </a:solidFill>
                        </a:rPr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881063"/>
                  </a:ext>
                </a:extLst>
              </a:tr>
              <a:tr h="338365"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389125"/>
                  </a:ext>
                </a:extLst>
              </a:tr>
              <a:tr h="338365"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16,536.32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40,320.64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88,571.78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444326"/>
                  </a:ext>
                </a:extLst>
              </a:tr>
              <a:tr h="338365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297.61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5144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AC124CB-0847-1D67-008D-1A5D30986032}"/>
              </a:ext>
            </a:extLst>
          </p:cNvPr>
          <p:cNvSpPr txBox="1"/>
          <p:nvPr/>
        </p:nvSpPr>
        <p:spPr>
          <a:xfrm>
            <a:off x="-152400" y="448165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 err="1"/>
              <a:t>XGBoost</a:t>
            </a:r>
            <a:r>
              <a:rPr lang="en-US" dirty="0"/>
              <a:t> Performance Overview</a:t>
            </a:r>
          </a:p>
        </p:txBody>
      </p:sp>
    </p:spTree>
    <p:extLst>
      <p:ext uri="{BB962C8B-B14F-4D97-AF65-F5344CB8AC3E}">
        <p14:creationId xmlns:p14="http://schemas.microsoft.com/office/powerpoint/2010/main" val="877520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0" y="653765"/>
            <a:ext cx="6855777" cy="1475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2 : Agent Scorecard</a:t>
            </a:r>
          </a:p>
          <a:p>
            <a:pPr algn="ctr">
              <a:lnSpc>
                <a:spcPts val="6020"/>
              </a:lnSpc>
            </a:pPr>
            <a:endParaRPr lang="en-US" sz="43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58D868D-55C2-2A9A-8BF0-381EF7FD78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8087317"/>
              </p:ext>
            </p:extLst>
          </p:nvPr>
        </p:nvGraphicFramePr>
        <p:xfrm>
          <a:off x="1524000" y="1828800"/>
          <a:ext cx="7164552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13329-2A7E-0B15-96BC-BB6A71F1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2170D1-3FC8-347E-037D-2E9804661282}"/>
              </a:ext>
            </a:extLst>
          </p:cNvPr>
          <p:cNvSpPr txBox="1"/>
          <p:nvPr/>
        </p:nvSpPr>
        <p:spPr>
          <a:xfrm>
            <a:off x="1524000" y="653765"/>
            <a:ext cx="6855777" cy="1475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2 : Agent Scorecard</a:t>
            </a:r>
          </a:p>
          <a:p>
            <a:pPr algn="ctr">
              <a:lnSpc>
                <a:spcPts val="6020"/>
              </a:lnSpc>
            </a:pPr>
            <a:endParaRPr lang="en-US" sz="43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761F8D-283D-E1C5-DE84-3C19D0274A2F}"/>
              </a:ext>
            </a:extLst>
          </p:cNvPr>
          <p:cNvSpPr txBox="1"/>
          <p:nvPr/>
        </p:nvSpPr>
        <p:spPr>
          <a:xfrm>
            <a:off x="-1540" y="1535708"/>
            <a:ext cx="1203879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S</a:t>
            </a:r>
            <a:endParaRPr lang="en-US" b="1" dirty="0">
              <a:ea typeface="Calibri"/>
              <a:cs typeface="Calibri"/>
            </a:endParaRP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C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O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R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E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C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A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R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D</a:t>
            </a:r>
          </a:p>
          <a:p>
            <a:pPr algn="ctr"/>
            <a:endParaRPr lang="en-US" b="1" dirty="0">
              <a:latin typeface="Times New Roman"/>
              <a:cs typeface="Times New Roman"/>
            </a:endParaRP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L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O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G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I</a:t>
            </a: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C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ACBE3BB-FAFC-2C5F-645A-0E5404AFE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96" y="1746420"/>
            <a:ext cx="7821739" cy="3782203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240C87F-358B-1128-DC23-FE5B53157F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3542580"/>
              </p:ext>
            </p:extLst>
          </p:nvPr>
        </p:nvGraphicFramePr>
        <p:xfrm>
          <a:off x="530180" y="3155234"/>
          <a:ext cx="8674704" cy="6418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7231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DBA5F-C85A-B248-B32A-6EC84921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05E6ABD-A1D5-3A97-A13C-1092F92EBAB7}"/>
              </a:ext>
            </a:extLst>
          </p:cNvPr>
          <p:cNvSpPr txBox="1"/>
          <p:nvPr/>
        </p:nvSpPr>
        <p:spPr>
          <a:xfrm>
            <a:off x="1524000" y="653765"/>
            <a:ext cx="6855777" cy="1475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</a:p>
          <a:p>
            <a:pPr algn="ctr">
              <a:lnSpc>
                <a:spcPts val="6020"/>
              </a:lnSpc>
            </a:pPr>
            <a:endParaRPr lang="en-US" sz="43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F5FF527-BCDA-B6D6-C2A1-E3CCDC659AD7}"/>
              </a:ext>
            </a:extLst>
          </p:cNvPr>
          <p:cNvSpPr txBox="1"/>
          <p:nvPr/>
        </p:nvSpPr>
        <p:spPr>
          <a:xfrm>
            <a:off x="731520" y="2165349"/>
            <a:ext cx="8107063" cy="394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755" lvl="1" indent="-3429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US" sz="2150" b="1" dirty="0">
                <a:latin typeface="Times New Roman"/>
                <a:cs typeface="Times New Roman"/>
              </a:rPr>
              <a:t>Key Takeaways:</a:t>
            </a:r>
            <a:endParaRPr lang="en-US" sz="2150" b="1" dirty="0">
              <a:latin typeface="Times New Roman"/>
              <a:ea typeface="Calibri"/>
              <a:cs typeface="Times New Roman"/>
            </a:endParaRPr>
          </a:p>
          <a:p>
            <a:pPr marL="1036955" lvl="2" indent="-342900">
              <a:lnSpc>
                <a:spcPts val="3079"/>
              </a:lnSpc>
              <a:buFont typeface="Wingdings" panose="020B0604020202020204" pitchFamily="34" charset="0"/>
              <a:buChar char="§"/>
            </a:pPr>
            <a:r>
              <a:rPr lang="en-US" sz="2150" b="1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XGBoost</a:t>
            </a:r>
            <a:r>
              <a:rPr lang="en-US" sz="215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shows best training accuracy but slight overfitting.</a:t>
            </a:r>
          </a:p>
          <a:p>
            <a:pPr marL="1036955" lvl="2" indent="-342900">
              <a:lnSpc>
                <a:spcPts val="3079"/>
              </a:lnSpc>
              <a:buFont typeface="Wingdings" panose="020B0604020202020204" pitchFamily="34" charset="0"/>
              <a:buChar char="§"/>
            </a:pPr>
            <a:r>
              <a:rPr lang="en-US" sz="2150" b="1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LightGBM</a:t>
            </a:r>
            <a:r>
              <a:rPr lang="en-US" sz="215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performs exceptionally on recent test data, fastest training.</a:t>
            </a:r>
          </a:p>
          <a:p>
            <a:pPr marL="1036955" lvl="2" indent="-342900">
              <a:lnSpc>
                <a:spcPts val="3079"/>
              </a:lnSpc>
              <a:buFont typeface="Wingdings" panose="020B0604020202020204" pitchFamily="34" charset="0"/>
              <a:buChar char="§"/>
            </a:pPr>
            <a:r>
              <a:rPr lang="en-US" sz="2150" b="1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CatBoost</a:t>
            </a:r>
            <a:r>
              <a:rPr lang="en-US" sz="215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215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is most balanced with consistent performance/strong generalization, low preprocessing and </a:t>
            </a:r>
            <a:r>
              <a:rPr lang="en-US" sz="215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interpretatbility</a:t>
            </a:r>
            <a:r>
              <a:rPr lang="en-US" sz="215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marL="579755" lvl="1" indent="-3429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US" sz="215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Top predictive Features (all models):</a:t>
            </a:r>
          </a:p>
          <a:p>
            <a:pPr marL="1036955" lvl="2" indent="-342900">
              <a:lnSpc>
                <a:spcPts val="3079"/>
              </a:lnSpc>
              <a:buFont typeface="Wingdings" panose="020B0604020202020204" pitchFamily="34" charset="0"/>
              <a:buChar char="§"/>
            </a:pPr>
            <a:r>
              <a:rPr lang="en-US" sz="215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Split, Sum Insured, NCB %, Vehicle Age, Make, CC, Customer Age, Branch</a:t>
            </a:r>
          </a:p>
          <a:p>
            <a:pPr marL="579755" lvl="1" indent="-342900">
              <a:lnSpc>
                <a:spcPts val="3079"/>
              </a:lnSpc>
              <a:buFont typeface="Arial" panose="020B0604020202020204" pitchFamily="34" charset="0"/>
              <a:buChar char="•"/>
            </a:pPr>
            <a:endParaRPr lang="en-US" sz="215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304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664845"/>
            <a:ext cx="2927985" cy="706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1520" y="2002332"/>
            <a:ext cx="8537216" cy="394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755" lvl="1" indent="-342900">
              <a:lnSpc>
                <a:spcPts val="3079"/>
              </a:lnSpc>
              <a:buFont typeface="Calibri"/>
              <a:buChar char="-"/>
            </a:pPr>
            <a:r>
              <a:rPr lang="en-US" sz="2150" b="1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CatBoost</a:t>
            </a:r>
            <a:r>
              <a:rPr lang="en-US" sz="2150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Model Selection:</a:t>
            </a:r>
            <a:endParaRPr lang="en-US" sz="2150" b="1" dirty="0">
              <a:latin typeface="Times New Roman"/>
              <a:cs typeface="Times New Roman"/>
            </a:endParaRPr>
          </a:p>
          <a:p>
            <a:pPr marL="931545" lvl="2" indent="-237490">
              <a:lnSpc>
                <a:spcPts val="3079"/>
              </a:lnSpc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Times New Roman"/>
              </a:rPr>
              <a:t>Selected for its stability, categorical data handling and interpretability.</a:t>
            </a:r>
            <a:endParaRPr lang="en-US" sz="2150" dirty="0">
              <a:latin typeface="Times New Roman"/>
              <a:ea typeface="Calibri"/>
              <a:cs typeface="Times New Roman"/>
            </a:endParaRPr>
          </a:p>
          <a:p>
            <a:pPr marL="931545" lvl="2" indent="-237490">
              <a:lnSpc>
                <a:spcPts val="3079"/>
              </a:lnSpc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Times New Roman"/>
              </a:rPr>
              <a:t>Consistent performance, even without heavy preprocessing</a:t>
            </a:r>
            <a:endParaRPr lang="en-US" sz="2150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931545" lvl="2" indent="-237490">
              <a:lnSpc>
                <a:spcPts val="3079"/>
              </a:lnSpc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Deployment in progress for real-time monitoring via dashboards</a:t>
            </a:r>
          </a:p>
          <a:p>
            <a:pPr marL="236855" lvl="1">
              <a:lnSpc>
                <a:spcPts val="3079"/>
              </a:lnSpc>
            </a:pPr>
            <a:endParaRPr lang="en-US" sz="2150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579755" lvl="1" indent="-342900">
              <a:lnSpc>
                <a:spcPts val="3079"/>
              </a:lnSpc>
              <a:buFont typeface="Calibri"/>
              <a:buChar char="-"/>
            </a:pPr>
            <a:r>
              <a:rPr lang="en-US" sz="215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Times New Roman"/>
              </a:rPr>
              <a:t>Agent Scorecard:</a:t>
            </a:r>
            <a:endParaRPr lang="en-US" b="1" dirty="0">
              <a:ea typeface="Calibri"/>
              <a:cs typeface="Calibri"/>
            </a:endParaRPr>
          </a:p>
          <a:p>
            <a:pPr marL="931545" lvl="2" indent="-237490">
              <a:lnSpc>
                <a:spcPts val="3079"/>
              </a:lnSpc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Times New Roman"/>
              </a:rPr>
              <a:t>Work ongoing on analysis with respect to reporting lines</a:t>
            </a:r>
            <a:endParaRPr lang="en-US" dirty="0"/>
          </a:p>
          <a:p>
            <a:pPr marL="931545" lvl="2" indent="-237490">
              <a:lnSpc>
                <a:spcPts val="3079"/>
              </a:lnSpc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Times New Roman"/>
              </a:rPr>
              <a:t>Final scorecard will aid in evaluating agent performance and driving business decisions.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5691" y="3121661"/>
            <a:ext cx="3155474" cy="100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2205</TotalTime>
  <Words>1310</Words>
  <Application>Microsoft Office PowerPoint</Application>
  <PresentationFormat>Custom</PresentationFormat>
  <Paragraphs>277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SEM8 Final 3rd review</dc:title>
  <cp:lastModifiedBy>Ananya Datta</cp:lastModifiedBy>
  <cp:revision>128</cp:revision>
  <dcterms:created xsi:type="dcterms:W3CDTF">2006-08-16T00:00:00Z</dcterms:created>
  <dcterms:modified xsi:type="dcterms:W3CDTF">2025-05-16T18:37:12Z</dcterms:modified>
  <dc:identifier>DAGliXXQQQg</dc:identifier>
</cp:coreProperties>
</file>